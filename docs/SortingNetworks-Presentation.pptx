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5" r:id="rId3"/>
    <p:sldId id="257" r:id="rId4"/>
    <p:sldId id="268" r:id="rId5"/>
    <p:sldId id="258" r:id="rId6"/>
    <p:sldId id="259" r:id="rId7"/>
    <p:sldId id="260" r:id="rId8"/>
    <p:sldId id="269" r:id="rId9"/>
    <p:sldId id="261" r:id="rId10"/>
    <p:sldId id="262" r:id="rId11"/>
    <p:sldId id="263" r:id="rId12"/>
    <p:sldId id="273" r:id="rId13"/>
    <p:sldId id="272" r:id="rId14"/>
    <p:sldId id="264" r:id="rId15"/>
    <p:sldId id="270" r:id="rId16"/>
    <p:sldId id="265" r:id="rId17"/>
    <p:sldId id="271" r:id="rId18"/>
    <p:sldId id="266" r:id="rId19"/>
    <p:sldId id="267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42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Networks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Paper to Performance with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3200400" cy="36576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 new CS paper algorithm in C# using GitHub Copilot,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benchmarking against .NET's built-in sort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Peppers – Principal Software Engineer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| Microsoft | github.com/jonathanpeppers/SortingNetworks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1371600"/>
            <a:ext cx="2286000" cy="2286000"/>
          </a:xfrm>
          <a:prstGeom prst="ellipse">
            <a:avLst/>
          </a:prstGeom>
          <a:solidFill>
            <a:srgbClr val="38BDF8">
              <a:alpha val="10000"/>
            </a:srgbClr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89520" y="1828800"/>
            <a:ext cx="1645920" cy="1645920"/>
          </a:xfrm>
          <a:prstGeom prst="ellipse">
            <a:avLst/>
          </a:prstGeom>
          <a:solidFill>
            <a:srgbClr val="818CF8">
              <a:alpha val="8000"/>
            </a:srgb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31520" y="274320"/>
            <a:ext cx="7681596" cy="64008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3200" b="1" dirty="0">
                <a:solidFill>
                  <a:srgbClr val="F1F5F9"/>
                </a:solidFill>
                <a:latin typeface="Calibri"/>
              </a:rPr>
              <a:t>Why This Talk</a:t>
            </a:r>
          </a:p>
        </p:txBody>
      </p:sp>
      <p:sp>
        <p:nvSpPr>
          <p:cNvPr id="10" name="Card1Bg"/>
          <p:cNvSpPr/>
          <p:nvPr/>
        </p:nvSpPr>
        <p:spPr>
          <a:xfrm>
            <a:off x="731520" y="1005840"/>
            <a:ext cx="8138160" cy="1005840"/>
          </a:xfrm>
          <a:prstGeom prst="rect">
            <a:avLst/>
          </a:prstGeom>
          <a:solidFill>
            <a:srgbClr val="1E2D4F"/>
          </a:solidFill>
          <a:effectLst>
            <a:outerShdw blurRad="101600" dist="38100" dir="81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rd1Accent"/>
          <p:cNvSpPr/>
          <p:nvPr/>
        </p:nvSpPr>
        <p:spPr>
          <a:xfrm>
            <a:off x="731520" y="1005840"/>
            <a:ext cx="54864" cy="1005840"/>
          </a:xfrm>
          <a:prstGeom prst="rect">
            <a:avLst/>
          </a:prstGeom>
          <a:solidFill>
            <a:srgbClr val="38BDF8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Card1Text"/>
          <p:cNvSpPr/>
          <p:nvPr/>
        </p:nvSpPr>
        <p:spPr>
          <a:xfrm>
            <a:off x="1005840" y="1097280"/>
            <a:ext cx="7681596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200" b="1" dirty="0">
                <a:solidFill>
                  <a:srgbClr val="F1F5F9"/>
                </a:solidFill>
                <a:latin typeface="Calibri"/>
              </a:rPr>
              <a:t>Most developers haven’t seen what AI can do today</a:t>
            </a:r>
          </a:p>
          <a:p>
            <a:pPr algn="l"/>
            <a:r>
              <a:rPr lang="en-US" sz="1300" dirty="0">
                <a:solidFill>
                  <a:srgbClr val="94A3B8"/>
                </a:solidFill>
                <a:latin typeface="Calibri"/>
              </a:rPr>
              <a:t>The tooling has moved fast — it’s worth showing real examples, not just hype</a:t>
            </a:r>
          </a:p>
        </p:txBody>
      </p:sp>
      <p:sp>
        <p:nvSpPr>
          <p:cNvPr id="20" name="Card2Bg"/>
          <p:cNvSpPr/>
          <p:nvPr/>
        </p:nvSpPr>
        <p:spPr>
          <a:xfrm>
            <a:off x="731520" y="2194560"/>
            <a:ext cx="8138160" cy="1005840"/>
          </a:xfrm>
          <a:prstGeom prst="rect">
            <a:avLst/>
          </a:prstGeom>
          <a:solidFill>
            <a:srgbClr val="1E2D4F"/>
          </a:solidFill>
          <a:effectLst>
            <a:outerShdw blurRad="101600" dist="38100" dir="81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Card2Accent"/>
          <p:cNvSpPr/>
          <p:nvPr/>
        </p:nvSpPr>
        <p:spPr>
          <a:xfrm>
            <a:off x="731520" y="2194560"/>
            <a:ext cx="54864" cy="1005840"/>
          </a:xfrm>
          <a:prstGeom prst="rect">
            <a:avLst/>
          </a:prstGeom>
          <a:solidFill>
            <a:srgbClr val="818CF8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Card2Text"/>
          <p:cNvSpPr/>
          <p:nvPr/>
        </p:nvSpPr>
        <p:spPr>
          <a:xfrm>
            <a:off x="1005840" y="2286000"/>
            <a:ext cx="7681596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200" b="1" dirty="0">
                <a:solidFill>
                  <a:srgbClr val="F1F5F9"/>
                </a:solidFill>
                <a:latin typeface="Calibri"/>
              </a:rPr>
              <a:t>I have access to a </a:t>
            </a:r>
            <a:r>
              <a:rPr lang="en-US" sz="2200" b="1" i="1" dirty="0">
                <a:solidFill>
                  <a:srgbClr val="818CF8"/>
                </a:solidFill>
                <a:latin typeface="Calibri"/>
              </a:rPr>
              <a:t>lot</a:t>
            </a:r>
            <a:r>
              <a:rPr lang="en-US" sz="2200" b="1" dirty="0">
                <a:solidFill>
                  <a:srgbClr val="F1F5F9"/>
                </a:solidFill>
                <a:latin typeface="Calibri"/>
              </a:rPr>
              <a:t> of tokens</a:t>
            </a:r>
          </a:p>
          <a:p>
            <a:pPr algn="l"/>
            <a:r>
              <a:rPr lang="en-US" sz="1300" dirty="0">
                <a:solidFill>
                  <a:srgbClr val="94A3B8"/>
                </a:solidFill>
                <a:latin typeface="Calibri"/>
              </a:rPr>
              <a:t>So let me show you what’s possible with a real project, start to finish</a:t>
            </a:r>
          </a:p>
        </p:txBody>
      </p:sp>
      <p:sp>
        <p:nvSpPr>
          <p:cNvPr id="30" name="Card3Bg"/>
          <p:cNvSpPr/>
          <p:nvPr/>
        </p:nvSpPr>
        <p:spPr>
          <a:xfrm>
            <a:off x="731520" y="3383280"/>
            <a:ext cx="8138160" cy="1005840"/>
          </a:xfrm>
          <a:prstGeom prst="rect">
            <a:avLst/>
          </a:prstGeom>
          <a:solidFill>
            <a:srgbClr val="1E2D4F"/>
          </a:solidFill>
          <a:effectLst>
            <a:outerShdw blurRad="101600" dist="38100" dir="81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Card3Accent"/>
          <p:cNvSpPr/>
          <p:nvPr/>
        </p:nvSpPr>
        <p:spPr>
          <a:xfrm>
            <a:off x="731520" y="3383280"/>
            <a:ext cx="54864" cy="1005840"/>
          </a:xfrm>
          <a:prstGeom prst="rect">
            <a:avLst/>
          </a:prstGeom>
          <a:solidFill>
            <a:srgbClr val="34D399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Card3Text"/>
          <p:cNvSpPr/>
          <p:nvPr/>
        </p:nvSpPr>
        <p:spPr>
          <a:xfrm>
            <a:off x="1005840" y="3474720"/>
            <a:ext cx="7681596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200" b="1" dirty="0">
                <a:solidFill>
                  <a:srgbClr val="F1F5F9"/>
                </a:solidFill>
                <a:latin typeface="Calibri"/>
              </a:rPr>
              <a:t>My entire workflow has changed</a:t>
            </a:r>
          </a:p>
          <a:p>
            <a:pPr algn="l"/>
            <a:r>
              <a:rPr lang="en-US" sz="1300" dirty="0">
                <a:solidFill>
                  <a:srgbClr val="94A3B8"/>
                </a:solidFill>
                <a:latin typeface="Calibri"/>
              </a:rPr>
              <a:t>I don’t use an IDE anymore — this project was built entirely with </a:t>
            </a:r>
            <a:r>
              <a:rPr lang="en-US" sz="1300" b="1" dirty="0">
                <a:solidFill>
                  <a:srgbClr val="34D399"/>
                </a:solidFill>
                <a:latin typeface="Calibri"/>
              </a:rPr>
              <a:t>AI-assisted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5156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64008" cy="105156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1417320"/>
            <a:ext cx="594360" cy="594360"/>
          </a:xfrm>
          <a:prstGeom prst="ellipse">
            <a:avLst/>
          </a:prstGeom>
          <a:solidFill>
            <a:srgbClr val="38BDF8">
              <a:alpha val="20000"/>
            </a:srgbClr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1325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Paper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1691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 recent CS paper with 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algorithm (November 2025)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7680960" cy="105156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64008" cy="105156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2651760"/>
            <a:ext cx="594360" cy="594360"/>
          </a:xfrm>
          <a:prstGeom prst="ellipse">
            <a:avLst/>
          </a:prstGeom>
          <a:solidFill>
            <a:srgbClr val="818CF8">
              <a:alpha val="20000"/>
            </a:srgbClr>
          </a:solidFill>
          <a:ln w="254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20240" y="2560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Implement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20240" y="2926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GitHub Copilot to implement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in C# / .NET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7680960" cy="105156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64008" cy="105156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1560" y="3886200"/>
            <a:ext cx="594360" cy="594360"/>
          </a:xfrm>
          <a:prstGeom prst="ellipse">
            <a:avLst/>
          </a:prstGeom>
          <a:solidFill>
            <a:srgbClr val="34D399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20240" y="3794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20240" y="4160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the existing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 Library (BCL) sort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help a developer move faster from research paper to working, optimized code?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31520" y="274320"/>
            <a:ext cx="7681596" cy="64008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3200" b="1" dirty="0">
                <a:solidFill>
                  <a:srgbClr val="F1F5F9"/>
                </a:solidFill>
                <a:latin typeface="Calibri"/>
              </a:rPr>
              <a:t>Prior Art: Paper → Implementation</a:t>
            </a:r>
          </a:p>
        </p:txBody>
      </p:sp>
      <p:sp>
        <p:nvSpPr>
          <p:cNvPr id="3" name="CardBg1"/>
          <p:cNvSpPr/>
          <p:nvPr/>
        </p:nvSpPr>
        <p:spPr>
          <a:xfrm>
            <a:off x="731520" y="1005840"/>
            <a:ext cx="4023360" cy="3474720"/>
          </a:xfrm>
          <a:prstGeom prst="rect">
            <a:avLst/>
          </a:prstGeom>
          <a:solidFill>
            <a:srgbClr val="1E2D4F"/>
          </a:solidFill>
          <a:effectLst>
            <a:outerShdw blurRad="101600" dist="38100" dir="81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centBar1"/>
          <p:cNvSpPr/>
          <p:nvPr/>
        </p:nvSpPr>
        <p:spPr>
          <a:xfrm>
            <a:off x="731520" y="1005840"/>
            <a:ext cx="64008" cy="3474720"/>
          </a:xfrm>
          <a:prstGeom prst="rect">
            <a:avLst/>
          </a:prstGeom>
          <a:solidFill>
            <a:srgbClr val="FB923C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CarmackTitle"/>
          <p:cNvSpPr/>
          <p:nvPr/>
        </p:nvSpPr>
        <p:spPr>
          <a:xfrm>
            <a:off x="914400" y="1097280"/>
            <a:ext cx="3657600" cy="36576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2000" b="1" dirty="0">
                <a:solidFill>
                  <a:srgbClr val="FB923C"/>
                </a:solidFill>
                <a:latin typeface="Calibri"/>
              </a:rPr>
              <a:t>John Carmack — Doom (1993)</a:t>
            </a:r>
          </a:p>
        </p:txBody>
      </p:sp>
      <p:sp>
        <p:nvSpPr>
          <p:cNvPr id="6" name="CarmackStory"/>
          <p:cNvSpPr/>
          <p:nvPr/>
        </p:nvSpPr>
        <p:spPr>
          <a:xfrm>
            <a:off x="914400" y="146304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200" dirty="0">
                <a:solidFill>
                  <a:srgbClr val="94A3B8"/>
                </a:solidFill>
                <a:latin typeface="Calibri"/>
              </a:rPr>
              <a:t>While building the Doom engine, Carmack found an academic paper on </a:t>
            </a:r>
            <a:r>
              <a:rPr lang="en-US" sz="1200" b="1" dirty="0">
                <a:solidFill>
                  <a:srgbClr val="38BDF8"/>
                </a:solidFill>
                <a:latin typeface="Calibri"/>
              </a:rPr>
              <a:t>Binary Space Partitioning (BSP) trees</a:t>
            </a:r>
            <a:r>
              <a:rPr lang="en-US" sz="1200" dirty="0">
                <a:solidFill>
                  <a:srgbClr val="94A3B8"/>
                </a:solidFill>
                <a:latin typeface="Calibri"/>
              </a:rPr>
              <a:t> by Fuchs, Kedem &amp; Naylor (SIGGRAPH 1980).</a:t>
            </a:r>
          </a:p>
          <a:p>
            <a:pPr algn="l"/>
            <a:endParaRPr lang="en-US" sz="800" dirty="0">
              <a:solidFill>
                <a:srgbClr val="94A3B8"/>
              </a:solidFill>
            </a:endParaRPr>
          </a:p>
          <a:p>
            <a:pPr algn="l"/>
            <a:r>
              <a:rPr lang="en-US" sz="1200" dirty="0">
                <a:solidFill>
                  <a:srgbClr val="94A3B8"/>
                </a:solidFill>
                <a:latin typeface="Calibri"/>
              </a:rPr>
              <a:t>He implemented it to subdivide game levels so the engine only rendered visible surfaces — the breakthrough that made Doom’s sprawling levels run in real-time on early ’90s PCs.</a:t>
            </a:r>
          </a:p>
        </p:txBody>
      </p:sp>
      <p:sp>
        <p:nvSpPr>
          <p:cNvPr id="7" name="PaperCitation"/>
          <p:cNvSpPr/>
          <p:nvPr/>
        </p:nvSpPr>
        <p:spPr>
          <a:xfrm>
            <a:off x="914400" y="2926080"/>
            <a:ext cx="3657600" cy="548640"/>
          </a:xfrm>
          <a:prstGeom prst="rect">
            <a:avLst/>
          </a:prstGeom>
          <a:solidFill>
            <a:srgbClr val="0D1117"/>
          </a:solidFill>
        </p:spPr>
        <p:txBody>
          <a:bodyPr wrap="square" lIns="91440" tIns="45720" rIns="91440" bIns="45720"/>
          <a:lstStyle/>
          <a:p>
            <a:pPr algn="l"/>
            <a:r>
              <a:rPr lang="en-US" sz="900" i="1" dirty="0">
                <a:solidFill>
                  <a:srgbClr val="FB923C"/>
                </a:solidFill>
                <a:latin typeface="Calibri"/>
              </a:rPr>
              <a:t>“On Visible Surface Generation by A Priori Tree Structures”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Calibri"/>
              </a:rPr>
              <a:t>Fuchs, Kedem &amp; Naylor — SIGGRAPH 1980</a:t>
            </a:r>
          </a:p>
        </p:txBody>
      </p:sp>
      <p:sp>
        <p:nvSpPr>
          <p:cNvPr id="8" name="Source"/>
          <p:cNvSpPr/>
          <p:nvPr/>
        </p:nvSpPr>
        <p:spPr>
          <a:xfrm>
            <a:off x="914400" y="3566160"/>
            <a:ext cx="3657600" cy="27432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1000" dirty="0">
                <a:solidFill>
                  <a:srgbClr val="64748B"/>
                </a:solidFill>
                <a:latin typeface="Calibri"/>
              </a:rPr>
              <a:t>As told in </a:t>
            </a:r>
            <a:r>
              <a:rPr lang="en-US" sz="1000" i="1" dirty="0">
                <a:solidFill>
                  <a:srgbClr val="818CF8"/>
                </a:solidFill>
                <a:latin typeface="Calibri"/>
              </a:rPr>
              <a:t>Masters of Doom</a:t>
            </a:r>
            <a:r>
              <a:rPr lang="en-US" sz="1000" dirty="0">
                <a:solidFill>
                  <a:srgbClr val="64748B"/>
                </a:solidFill>
                <a:latin typeface="Calibri"/>
              </a:rPr>
              <a:t> by David Kushner</a:t>
            </a:r>
          </a:p>
        </p:txBody>
      </p:sp>
      <p:sp>
        <p:nvSpPr>
          <p:cNvPr id="9" name="ImgBg"/>
          <p:cNvSpPr/>
          <p:nvPr/>
        </p:nvSpPr>
        <p:spPr>
          <a:xfrm>
            <a:off x="5029200" y="1005840"/>
            <a:ext cx="3840480" cy="2651760"/>
          </a:xfrm>
          <a:prstGeom prst="rect">
            <a:avLst/>
          </a:prstGeom>
          <a:solidFill>
            <a:srgbClr val="F8FAFC"/>
          </a:solidFill>
          <a:effectLst>
            <a:outerShdw blurRad="101600" dist="38100" dir="81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BSP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097280"/>
            <a:ext cx="3657600" cy="2194560"/>
          </a:xfrm>
          <a:prstGeom prst="rect">
            <a:avLst/>
          </a:prstGeom>
        </p:spPr>
      </p:pic>
      <p:sp>
        <p:nvSpPr>
          <p:cNvPr id="11" name="BspLabel"/>
          <p:cNvSpPr/>
          <p:nvPr/>
        </p:nvSpPr>
        <p:spPr>
          <a:xfrm>
            <a:off x="5029200" y="3383280"/>
            <a:ext cx="3840480" cy="27432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900" i="1" dirty="0">
                <a:solidFill>
                  <a:srgbClr val="64748B"/>
                </a:solidFill>
                <a:latin typeface="Calibri"/>
              </a:rPr>
              <a:t>BSP tree: recursively subdividing space to determine visible surfaces</a:t>
            </a:r>
          </a:p>
        </p:txBody>
      </p:sp>
      <p:sp>
        <p:nvSpPr>
          <p:cNvPr id="12" name="BottomBar"/>
          <p:cNvSpPr/>
          <p:nvPr/>
        </p:nvSpPr>
        <p:spPr>
          <a:xfrm>
            <a:off x="731520" y="3931920"/>
            <a:ext cx="8138160" cy="1005840"/>
          </a:xfrm>
          <a:prstGeom prst="rect">
            <a:avLst/>
          </a:prstGeom>
          <a:solidFill>
            <a:srgbClr val="1A2744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atternLabel"/>
          <p:cNvSpPr/>
          <p:nvPr/>
        </p:nvSpPr>
        <p:spPr>
          <a:xfrm>
            <a:off x="731520" y="3931920"/>
            <a:ext cx="8138160" cy="274320"/>
          </a:xfrm>
          <a:prstGeom prst="rect">
            <a:avLst/>
          </a:prstGeom>
          <a:noFill/>
        </p:spPr>
        <p:txBody>
          <a:bodyPr lIns="91440" tIns="45720" rIns="0" bIns="0"/>
          <a:lstStyle/>
          <a:p>
            <a:pPr algn="l"/>
            <a:r>
              <a:rPr lang="en-US" sz="1400" b="1" dirty="0">
                <a:solidFill>
                  <a:srgbClr val="F1F5F9"/>
                </a:solidFill>
                <a:latin typeface="Calibri"/>
              </a:rPr>
              <a:t>The Pattern: Find a Paper → Implement the Algorithm → Ship Something Faster</a:t>
            </a:r>
          </a:p>
        </p:txBody>
      </p:sp>
      <p:sp>
        <p:nvSpPr>
          <p:cNvPr id="14" name="CompLeft"/>
          <p:cNvSpPr/>
          <p:nvPr/>
        </p:nvSpPr>
        <p:spPr>
          <a:xfrm>
            <a:off x="822960" y="4297680"/>
            <a:ext cx="3748536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b="1" dirty="0">
                <a:solidFill>
                  <a:srgbClr val="FB923C"/>
                </a:solidFill>
                <a:latin typeface="Calibri"/>
              </a:rPr>
              <a:t>Carmack (1993): 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BSP paper (1980) → Doom engine → real-time 3D on consumer PCs</a:t>
            </a:r>
          </a:p>
        </p:txBody>
      </p:sp>
      <p:sp>
        <p:nvSpPr>
          <p:cNvPr id="15" name="CompRight"/>
          <p:cNvSpPr/>
          <p:nvPr/>
        </p:nvSpPr>
        <p:spPr>
          <a:xfrm>
            <a:off x="4846320" y="429768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b="1" dirty="0">
                <a:solidFill>
                  <a:srgbClr val="38BDF8"/>
                </a:solidFill>
                <a:latin typeface="Calibri"/>
              </a:rPr>
              <a:t>This project (2026): 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Sorting network paper (2025) → SIMD sort → up to 41x faster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Products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160020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VS 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code completion and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directly in the editor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github.com/features/copilot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657600" cy="160020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657600" cy="4572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in the terminal for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and refactoring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githubnext.com/projects/copilot-cli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3657600" cy="160020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365760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Code Review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pull request reviews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catch bugs and suggest improvements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github.com/features/code-review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3657600" cy="160020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3657600" cy="4572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Coding Agent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0" y="3566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that implements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from GitHub Issues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github.com/features/copilot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256032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64008" cy="25603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"Depth-13 Sorting Networks for 28 Channels"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Chengu Wang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arXiv:2511.04107  •  Published November 6, 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880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depth upper bounds for 27 and 28 channel sorting networks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14 to 13 layers, using reflectional symmetry + SAT solver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4572000"/>
            <a:ext cx="6400800" cy="2743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61872" y="4462272"/>
            <a:ext cx="219456" cy="21945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published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62272" y="4462272"/>
            <a:ext cx="219456" cy="219456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17,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4709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started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62672" y="4462272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18,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4709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optimized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Sorting Networks 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</a:rPr>
              <a:t>A sorting network is a fixed sequence of
</a:t>
            </a:r>
            <a:r>
              <a:rPr lang="en-US" sz="1400" b="1" dirty="0">
                <a:solidFill>
                  <a:srgbClr val="38BDF8"/>
                </a:solidFill>
              </a:rPr>
              <a:t>compare-and-swap</a:t>
            </a:r>
            <a:r>
              <a:rPr lang="en-US" sz="1400" dirty="0">
                <a:solidFill>
                  <a:srgbClr val="94A3B8"/>
                </a:solidFill>
              </a:rPr>
              <a:t> operations.
</a:t>
            </a:r>
            <a:r>
              <a:rPr lang="en-US" sz="1400" b="1" dirty="0">
                <a:solidFill>
                  <a:srgbClr val="F1F5F9"/>
                </a:solidFill>
              </a:rPr>
              <a:t>Key properties:
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34D399"/>
                </a:solidFill>
              </a:rPr>
              <a:t>Data-oblivious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  Comparisons depend on size, not values
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34D399"/>
                </a:solidFill>
              </a:rPr>
              <a:t>Branch-free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  Eliminates input-dependent control flow
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34D399"/>
                </a:solidFill>
              </a:rPr>
              <a:t>Parallelizable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  Independent pairs in same layer run at once
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34D399"/>
                </a:solidFill>
              </a:rPr>
              <a:t>Fixed depth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  Fewer layers = lower latency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12080" y="1005840"/>
            <a:ext cx="3474720" cy="347472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9496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Compare-and-Swap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 &gt; b) {
</a:t>
            </a: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swap(a, b)
</a:t>
            </a: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2788920"/>
            <a:ext cx="640080" cy="502920"/>
          </a:xfrm>
          <a:prstGeom prst="rect">
            <a:avLst/>
          </a:prstGeom>
          <a:solidFill>
            <a:srgbClr val="F87171">
              <a:alpha val="30000"/>
            </a:srgbClr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52160" y="2788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675120" y="2788920"/>
            <a:ext cx="640080" cy="502920"/>
          </a:xfrm>
          <a:prstGeom prst="rect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0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3749040"/>
            <a:ext cx="640080" cy="502920"/>
          </a:xfrm>
          <a:prstGeom prst="rect">
            <a:avLst/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0" y="3749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75120" y="3749040"/>
            <a:ext cx="640080" cy="502920"/>
          </a:xfrm>
          <a:prstGeom prst="rect">
            <a:avLst/>
          </a:prstGeom>
          <a:solidFill>
            <a:srgbClr val="34D399">
              <a:alpha val="3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3749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This paper: </a:t>
            </a:r>
            <a:r>
              <a:rPr lang="en-US" sz="1300" b="1" dirty="0">
                <a:solidFill>
                  <a:srgbClr val="38BDF8"/>
                </a:solidFill>
              </a:rPr>
              <a:t>28 channels, 13 layers deep, ~185 comparators</a:t>
            </a:r>
            <a:r>
              <a:rPr lang="en-US" sz="1200" dirty="0">
                <a:solidFill>
                  <a:srgbClr val="64748B"/>
                </a:solidFill>
              </a:rPr>
              <a:t>  (previous best: 14 layers)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31520" y="274320"/>
            <a:ext cx="7681596" cy="64008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3200" b="1" dirty="0">
                <a:solidFill>
                  <a:srgbClr val="F1F5F9"/>
                </a:solidFill>
                <a:latin typeface="Calibri"/>
              </a:rPr>
              <a:t>A Simple Example: Sort 3 Elements</a:t>
            </a:r>
          </a:p>
        </p:txBody>
      </p:sp>
      <p:sp>
        <p:nvSpPr>
          <p:cNvPr id="3" name="Subtitle"/>
          <p:cNvSpPr/>
          <p:nvPr/>
        </p:nvSpPr>
        <p:spPr>
          <a:xfrm>
            <a:off x="731520" y="822960"/>
            <a:ext cx="7681596" cy="27432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1300" dirty="0">
                <a:solidFill>
                  <a:srgbClr val="94A3B8"/>
                </a:solidFill>
                <a:latin typeface="Calibri"/>
              </a:rPr>
              <a:t>Depth-3 network, 3 comparators — the full 27-element version uses the same pattern at scale</a:t>
            </a:r>
          </a:p>
        </p:txBody>
      </p:sp>
      <p:sp>
        <p:nvSpPr>
          <p:cNvPr id="4" name="CodeBg"/>
          <p:cNvSpPr/>
          <p:nvPr/>
        </p:nvSpPr>
        <p:spPr>
          <a:xfrm>
            <a:off x="457200" y="1143000"/>
            <a:ext cx="5486400" cy="3474720"/>
          </a:xfrm>
          <a:prstGeom prst="rect">
            <a:avLst/>
          </a:prstGeom>
          <a:solidFill>
            <a:srgbClr val="0D1117"/>
          </a:solidFill>
          <a:effectLst>
            <a:outerShdw blurRad="101600" dist="38100" dir="81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Code"/>
          <p:cNvSpPr/>
          <p:nvPr/>
        </p:nvSpPr>
        <p:spPr>
          <a:xfrm>
            <a:off x="594360" y="1234440"/>
            <a:ext cx="5212080" cy="34747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50" dirty="0">
                <a:solidFill>
                  <a:srgbClr val="64748B"/>
                </a:solidFill>
                <a:latin typeface="Consolas"/>
              </a:rPr>
              <a:t>// Sort 3 elements with a sorting network</a:t>
            </a:r>
          </a:p>
          <a:p>
            <a:pPr algn="l"/>
            <a:r>
              <a:rPr lang="en-US" sz="1150" dirty="0">
                <a:solidFill>
                  <a:srgbClr val="818CF8"/>
                </a:solidFill>
                <a:latin typeface="Consolas"/>
              </a:rPr>
              <a:t>static void</a:t>
            </a:r>
            <a:r>
              <a:rPr lang="en-US" sz="1150" dirty="0">
                <a:solidFill>
                  <a:srgbClr val="F1F5F9"/>
                </a:solidFill>
                <a:latin typeface="Consolas"/>
              </a:rPr>
              <a:t> Sort3(</a:t>
            </a:r>
            <a:r>
              <a:rPr lang="en-US" sz="1150" dirty="0">
                <a:solidFill>
                  <a:srgbClr val="818CF8"/>
                </a:solidFill>
                <a:latin typeface="Consolas"/>
              </a:rPr>
              <a:t>ref int</a:t>
            </a:r>
            <a:r>
              <a:rPr lang="en-US" sz="1150" dirty="0">
                <a:solidFill>
                  <a:srgbClr val="F1F5F9"/>
                </a:solidFill>
                <a:latin typeface="Consolas"/>
              </a:rPr>
              <a:t> e0, </a:t>
            </a:r>
            <a:r>
              <a:rPr lang="en-US" sz="1150" dirty="0">
                <a:solidFill>
                  <a:srgbClr val="818CF8"/>
                </a:solidFill>
                <a:latin typeface="Consolas"/>
              </a:rPr>
              <a:t>ref int</a:t>
            </a:r>
            <a:r>
              <a:rPr lang="en-US" sz="1150" dirty="0">
                <a:solidFill>
                  <a:srgbClr val="F1F5F9"/>
                </a:solidFill>
                <a:latin typeface="Consolas"/>
              </a:rPr>
              <a:t> e1, </a:t>
            </a:r>
            <a:r>
              <a:rPr lang="en-US" sz="1150" dirty="0">
                <a:solidFill>
                  <a:srgbClr val="818CF8"/>
                </a:solidFill>
                <a:latin typeface="Consolas"/>
              </a:rPr>
              <a:t>ref int</a:t>
            </a:r>
            <a:r>
              <a:rPr lang="en-US" sz="1150" dirty="0">
                <a:solidFill>
                  <a:srgbClr val="F1F5F9"/>
                </a:solidFill>
                <a:latin typeface="Consolas"/>
              </a:rPr>
              <a:t> e2)</a:t>
            </a:r>
          </a:p>
          <a:p>
            <a:pPr algn="l"/>
            <a:r>
              <a:rPr lang="en-US" sz="1150" dirty="0">
                <a:solidFill>
                  <a:srgbClr val="F1F5F9"/>
                </a:solidFill>
                <a:latin typeface="Consolas"/>
              </a:rPr>
              <a:t>{</a:t>
            </a:r>
          </a:p>
          <a:p>
            <a:pPr algn="l"/>
            <a:r>
              <a:rPr lang="en-US" sz="1150" dirty="0">
                <a:solidFill>
                  <a:srgbClr val="34D399"/>
                </a:solidFill>
                <a:latin typeface="Consolas"/>
              </a:rPr>
              <a:t>    // Layer 1</a:t>
            </a:r>
          </a:p>
          <a:p>
            <a:pPr algn="l"/>
            <a:r>
              <a:rPr lang="en-US" sz="1150" dirty="0">
                <a:solidFill>
                  <a:srgbClr val="F1F5F9"/>
                </a:solidFill>
                <a:latin typeface="Consolas"/>
              </a:rPr>
              <a:t>    </a:t>
            </a:r>
            <a:r>
              <a:rPr lang="en-US" sz="1150" dirty="0">
                <a:solidFill>
                  <a:srgbClr val="818CF8"/>
                </a:solidFill>
                <a:latin typeface="Consolas"/>
              </a:rPr>
              <a:t>if</a:t>
            </a:r>
            <a:r>
              <a:rPr lang="en-US" sz="1150" dirty="0">
                <a:solidFill>
                  <a:srgbClr val="F1F5F9"/>
                </a:solidFill>
                <a:latin typeface="Consolas"/>
              </a:rPr>
              <a:t> (e0 &gt; e1) { </a:t>
            </a:r>
            <a:r>
              <a:rPr lang="en-US" sz="1150" dirty="0">
                <a:solidFill>
                  <a:srgbClr val="818CF8"/>
                </a:solidFill>
                <a:latin typeface="Consolas"/>
              </a:rPr>
              <a:t>int</a:t>
            </a:r>
            <a:r>
              <a:rPr lang="en-US" sz="1150" dirty="0">
                <a:solidFill>
                  <a:srgbClr val="F1F5F9"/>
                </a:solidFill>
                <a:latin typeface="Consolas"/>
              </a:rPr>
              <a:t> t = e0; e0 = e1; e1 = t; }</a:t>
            </a:r>
          </a:p>
          <a:p>
            <a:pPr algn="l"/>
            <a:r>
              <a:rPr lang="en-US" sz="700" dirty="0">
                <a:solidFill>
                  <a:srgbClr val="0D1117"/>
                </a:solidFill>
                <a:latin typeface="Consolas"/>
              </a:rPr>
              <a:t> </a:t>
            </a:r>
          </a:p>
          <a:p>
            <a:pPr algn="l"/>
            <a:r>
              <a:rPr lang="en-US" sz="1150" dirty="0">
                <a:solidFill>
                  <a:srgbClr val="38BDF8"/>
                </a:solidFill>
                <a:latin typeface="Consolas"/>
              </a:rPr>
              <a:t>    // Layer 2</a:t>
            </a:r>
          </a:p>
          <a:p>
            <a:pPr algn="l"/>
            <a:r>
              <a:rPr lang="en-US" sz="1150" dirty="0">
                <a:solidFill>
                  <a:srgbClr val="F1F5F9"/>
                </a:solidFill>
                <a:latin typeface="Consolas"/>
              </a:rPr>
              <a:t>    </a:t>
            </a:r>
            <a:r>
              <a:rPr lang="en-US" sz="1150" dirty="0">
                <a:solidFill>
                  <a:srgbClr val="818CF8"/>
                </a:solidFill>
                <a:latin typeface="Consolas"/>
              </a:rPr>
              <a:t>if</a:t>
            </a:r>
            <a:r>
              <a:rPr lang="en-US" sz="1150" dirty="0">
                <a:solidFill>
                  <a:srgbClr val="F1F5F9"/>
                </a:solidFill>
                <a:latin typeface="Consolas"/>
              </a:rPr>
              <a:t> (e1 &gt; e2) { </a:t>
            </a:r>
            <a:r>
              <a:rPr lang="en-US" sz="1150" dirty="0">
                <a:solidFill>
                  <a:srgbClr val="818CF8"/>
                </a:solidFill>
                <a:latin typeface="Consolas"/>
              </a:rPr>
              <a:t>int</a:t>
            </a:r>
            <a:r>
              <a:rPr lang="en-US" sz="1150" dirty="0">
                <a:solidFill>
                  <a:srgbClr val="F1F5F9"/>
                </a:solidFill>
                <a:latin typeface="Consolas"/>
              </a:rPr>
              <a:t> t = e1; e1 = e2; e2 = t; }</a:t>
            </a:r>
          </a:p>
          <a:p>
            <a:pPr algn="l"/>
            <a:r>
              <a:rPr lang="en-US" sz="700" dirty="0">
                <a:solidFill>
                  <a:srgbClr val="0D1117"/>
                </a:solidFill>
                <a:latin typeface="Consolas"/>
              </a:rPr>
              <a:t> </a:t>
            </a:r>
          </a:p>
          <a:p>
            <a:pPr algn="l"/>
            <a:r>
              <a:rPr lang="en-US" sz="1150" dirty="0">
                <a:solidFill>
                  <a:srgbClr val="FB923C"/>
                </a:solidFill>
                <a:latin typeface="Consolas"/>
              </a:rPr>
              <a:t>    // Layer 3</a:t>
            </a:r>
          </a:p>
          <a:p>
            <a:pPr algn="l"/>
            <a:r>
              <a:rPr lang="en-US" sz="1150" dirty="0">
                <a:solidFill>
                  <a:srgbClr val="F1F5F9"/>
                </a:solidFill>
                <a:latin typeface="Consolas"/>
              </a:rPr>
              <a:t>    </a:t>
            </a:r>
            <a:r>
              <a:rPr lang="en-US" sz="1150" dirty="0">
                <a:solidFill>
                  <a:srgbClr val="818CF8"/>
                </a:solidFill>
                <a:latin typeface="Consolas"/>
              </a:rPr>
              <a:t>if</a:t>
            </a:r>
            <a:r>
              <a:rPr lang="en-US" sz="1150" dirty="0">
                <a:solidFill>
                  <a:srgbClr val="F1F5F9"/>
                </a:solidFill>
                <a:latin typeface="Consolas"/>
              </a:rPr>
              <a:t> (e0 &gt; e1) { </a:t>
            </a:r>
            <a:r>
              <a:rPr lang="en-US" sz="1150" dirty="0">
                <a:solidFill>
                  <a:srgbClr val="818CF8"/>
                </a:solidFill>
                <a:latin typeface="Consolas"/>
              </a:rPr>
              <a:t>int</a:t>
            </a:r>
            <a:r>
              <a:rPr lang="en-US" sz="1150" dirty="0">
                <a:solidFill>
                  <a:srgbClr val="F1F5F9"/>
                </a:solidFill>
                <a:latin typeface="Consolas"/>
              </a:rPr>
              <a:t> t = e0; e0 = e1; e1 = t; }</a:t>
            </a:r>
          </a:p>
          <a:p>
            <a:pPr algn="l"/>
            <a:r>
              <a:rPr lang="en-US" sz="1150" dirty="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6" name="WalkthroughBg"/>
          <p:cNvSpPr/>
          <p:nvPr/>
        </p:nvSpPr>
        <p:spPr>
          <a:xfrm>
            <a:off x="6217920" y="1143000"/>
            <a:ext cx="3200400" cy="3474720"/>
          </a:xfrm>
          <a:prstGeom prst="rect">
            <a:avLst/>
          </a:prstGeom>
          <a:solidFill>
            <a:srgbClr val="1E2D4F"/>
          </a:solidFill>
          <a:effectLst>
            <a:outerShdw blurRad="101600" dist="38100" dir="81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WTTitle"/>
          <p:cNvSpPr/>
          <p:nvPr/>
        </p:nvSpPr>
        <p:spPr>
          <a:xfrm>
            <a:off x="6400800" y="1234440"/>
            <a:ext cx="2834640" cy="27432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1400" b="1" dirty="0">
                <a:solidFill>
                  <a:srgbClr val="F1F5F9"/>
                </a:solidFill>
                <a:latin typeface="Calibri"/>
              </a:rPr>
              <a:t>Walkthrough: [5, 1, 3]</a:t>
            </a:r>
          </a:p>
        </p:txBody>
      </p:sp>
      <p:sp>
        <p:nvSpPr>
          <p:cNvPr id="8" name="L1Label"/>
          <p:cNvSpPr/>
          <p:nvPr/>
        </p:nvSpPr>
        <p:spPr>
          <a:xfrm>
            <a:off x="6400800" y="1600200"/>
            <a:ext cx="2834640" cy="2286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1100" b="1" dirty="0">
                <a:solidFill>
                  <a:srgbClr val="34D399"/>
                </a:solidFill>
                <a:latin typeface="Calibri"/>
              </a:rPr>
              <a:t>Layer 1: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 Compare e0, e1 → swap!</a:t>
            </a:r>
          </a:p>
        </p:txBody>
      </p:sp>
      <p:sp>
        <p:nvSpPr>
          <p:cNvPr id="30" name="B1a"/>
          <p:cNvSpPr/>
          <p:nvPr/>
        </p:nvSpPr>
        <p:spPr>
          <a:xfrm>
            <a:off x="6400800" y="1828800"/>
            <a:ext cx="457200" cy="365760"/>
          </a:xfrm>
          <a:prstGeom prst="rect">
            <a:avLst/>
          </a:prstGeom>
          <a:solidFill>
            <a:srgbClr val="F87171">
              <a:alpha val="30000"/>
            </a:srgbClr>
          </a:solidFill>
          <a:ln w="19050">
            <a:solidFill>
              <a:srgbClr val="F87171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87171"/>
                </a:solidFill>
                <a:latin typeface="Calibri"/>
              </a:rPr>
              <a:t>5</a:t>
            </a:r>
          </a:p>
        </p:txBody>
      </p:sp>
      <p:sp>
        <p:nvSpPr>
          <p:cNvPr id="31" name="B1b"/>
          <p:cNvSpPr/>
          <p:nvPr/>
        </p:nvSpPr>
        <p:spPr>
          <a:xfrm>
            <a:off x="6949440" y="1828800"/>
            <a:ext cx="457200" cy="365760"/>
          </a:xfrm>
          <a:prstGeom prst="rect">
            <a:avLst/>
          </a:prstGeom>
          <a:solidFill>
            <a:srgbClr val="F87171">
              <a:alpha val="30000"/>
            </a:srgbClr>
          </a:solidFill>
          <a:ln w="19050">
            <a:solidFill>
              <a:srgbClr val="F87171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87171"/>
                </a:solidFill>
                <a:latin typeface="Calibri"/>
              </a:rPr>
              <a:t>1</a:t>
            </a:r>
          </a:p>
        </p:txBody>
      </p:sp>
      <p:sp>
        <p:nvSpPr>
          <p:cNvPr id="32" name="B1c"/>
          <p:cNvSpPr/>
          <p:nvPr/>
        </p:nvSpPr>
        <p:spPr>
          <a:xfrm>
            <a:off x="7498080" y="1828800"/>
            <a:ext cx="457200" cy="365760"/>
          </a:xfrm>
          <a:prstGeom prst="rect">
            <a:avLst/>
          </a:prstGeom>
          <a:solidFill>
            <a:srgbClr val="94A3B8">
              <a:alpha val="20000"/>
            </a:srgbClr>
          </a:solidFill>
          <a:ln w="19050">
            <a:solidFill>
              <a:srgbClr val="94A3B8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33" name="Arr1"/>
          <p:cNvSpPr/>
          <p:nvPr/>
        </p:nvSpPr>
        <p:spPr>
          <a:xfrm>
            <a:off x="8046720" y="1828800"/>
            <a:ext cx="274320" cy="36576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4" name="R1"/>
          <p:cNvSpPr/>
          <p:nvPr/>
        </p:nvSpPr>
        <p:spPr>
          <a:xfrm>
            <a:off x="8321040" y="1828800"/>
            <a:ext cx="914400" cy="36576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400" b="1" dirty="0">
                <a:solidFill>
                  <a:srgbClr val="34D399"/>
                </a:solidFill>
                <a:latin typeface="Consolas"/>
              </a:rPr>
              <a:t>1, 5, 3</a:t>
            </a:r>
          </a:p>
        </p:txBody>
      </p:sp>
      <p:sp>
        <p:nvSpPr>
          <p:cNvPr id="9" name="L2Label"/>
          <p:cNvSpPr/>
          <p:nvPr/>
        </p:nvSpPr>
        <p:spPr>
          <a:xfrm>
            <a:off x="6400800" y="2377440"/>
            <a:ext cx="2834640" cy="2286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1100" b="1" dirty="0">
                <a:solidFill>
                  <a:srgbClr val="38BDF8"/>
                </a:solidFill>
                <a:latin typeface="Calibri"/>
              </a:rPr>
              <a:t>Layer 2: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 Compare e1, e2 → swap!</a:t>
            </a:r>
          </a:p>
        </p:txBody>
      </p:sp>
      <p:sp>
        <p:nvSpPr>
          <p:cNvPr id="40" name="B2a"/>
          <p:cNvSpPr/>
          <p:nvPr/>
        </p:nvSpPr>
        <p:spPr>
          <a:xfrm>
            <a:off x="6400800" y="2606040"/>
            <a:ext cx="457200" cy="365760"/>
          </a:xfrm>
          <a:prstGeom prst="rect">
            <a:avLst/>
          </a:prstGeom>
          <a:solidFill>
            <a:srgbClr val="94A3B8">
              <a:alpha val="20000"/>
            </a:srgbClr>
          </a:solidFill>
          <a:ln w="19050">
            <a:solidFill>
              <a:srgbClr val="94A3B8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  <p:sp>
        <p:nvSpPr>
          <p:cNvPr id="41" name="B2b"/>
          <p:cNvSpPr/>
          <p:nvPr/>
        </p:nvSpPr>
        <p:spPr>
          <a:xfrm>
            <a:off x="6949440" y="2606040"/>
            <a:ext cx="457200" cy="365760"/>
          </a:xfrm>
          <a:prstGeom prst="rect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38BDF8"/>
                </a:solidFill>
                <a:latin typeface="Calibri"/>
              </a:rPr>
              <a:t>5</a:t>
            </a:r>
          </a:p>
        </p:txBody>
      </p:sp>
      <p:sp>
        <p:nvSpPr>
          <p:cNvPr id="42" name="B2c"/>
          <p:cNvSpPr/>
          <p:nvPr/>
        </p:nvSpPr>
        <p:spPr>
          <a:xfrm>
            <a:off x="7498080" y="2606040"/>
            <a:ext cx="457200" cy="365760"/>
          </a:xfrm>
          <a:prstGeom prst="rect">
            <a:avLst/>
          </a:prstGeom>
          <a:solidFill>
            <a:srgbClr val="38BDF8">
              <a:alpha val="30000"/>
            </a:srgbClr>
          </a:solidFill>
          <a:ln w="19050">
            <a:solidFill>
              <a:srgbClr val="38BDF8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38BDF8"/>
                </a:solidFill>
                <a:latin typeface="Calibri"/>
              </a:rPr>
              <a:t>3</a:t>
            </a:r>
          </a:p>
        </p:txBody>
      </p:sp>
      <p:sp>
        <p:nvSpPr>
          <p:cNvPr id="43" name="Arr2"/>
          <p:cNvSpPr/>
          <p:nvPr/>
        </p:nvSpPr>
        <p:spPr>
          <a:xfrm>
            <a:off x="8046720" y="2606040"/>
            <a:ext cx="274320" cy="36576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44" name="R2"/>
          <p:cNvSpPr/>
          <p:nvPr/>
        </p:nvSpPr>
        <p:spPr>
          <a:xfrm>
            <a:off x="8321040" y="2606040"/>
            <a:ext cx="914400" cy="36576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400" b="1" dirty="0">
                <a:solidFill>
                  <a:srgbClr val="38BDF8"/>
                </a:solidFill>
                <a:latin typeface="Consolas"/>
              </a:rPr>
              <a:t>1, 3, 5</a:t>
            </a:r>
          </a:p>
        </p:txBody>
      </p:sp>
      <p:sp>
        <p:nvSpPr>
          <p:cNvPr id="10" name="L3Label"/>
          <p:cNvSpPr/>
          <p:nvPr/>
        </p:nvSpPr>
        <p:spPr>
          <a:xfrm>
            <a:off x="6400800" y="3154680"/>
            <a:ext cx="2834640" cy="2286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1100" b="1" dirty="0">
                <a:solidFill>
                  <a:srgbClr val="FB923C"/>
                </a:solidFill>
                <a:latin typeface="Calibri"/>
              </a:rPr>
              <a:t>Layer 3: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 Compare e0, e1 → no swap</a:t>
            </a:r>
          </a:p>
        </p:txBody>
      </p:sp>
      <p:sp>
        <p:nvSpPr>
          <p:cNvPr id="50" name="B3a"/>
          <p:cNvSpPr/>
          <p:nvPr/>
        </p:nvSpPr>
        <p:spPr>
          <a:xfrm>
            <a:off x="6400800" y="3383280"/>
            <a:ext cx="457200" cy="365760"/>
          </a:xfrm>
          <a:prstGeom prst="rect">
            <a:avLst/>
          </a:prstGeom>
          <a:solidFill>
            <a:srgbClr val="4ADE80">
              <a:alpha val="30000"/>
            </a:srgbClr>
          </a:solidFill>
          <a:ln w="19050">
            <a:solidFill>
              <a:srgbClr val="4ADE8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4ADE80"/>
                </a:solidFill>
                <a:latin typeface="Calibri"/>
              </a:rPr>
              <a:t>1</a:t>
            </a:r>
          </a:p>
        </p:txBody>
      </p:sp>
      <p:sp>
        <p:nvSpPr>
          <p:cNvPr id="51" name="B3b"/>
          <p:cNvSpPr/>
          <p:nvPr/>
        </p:nvSpPr>
        <p:spPr>
          <a:xfrm>
            <a:off x="6949440" y="3383280"/>
            <a:ext cx="457200" cy="365760"/>
          </a:xfrm>
          <a:prstGeom prst="rect">
            <a:avLst/>
          </a:prstGeom>
          <a:solidFill>
            <a:srgbClr val="4ADE80">
              <a:alpha val="30000"/>
            </a:srgbClr>
          </a:solidFill>
          <a:ln w="19050">
            <a:solidFill>
              <a:srgbClr val="4ADE8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4ADE80"/>
                </a:solidFill>
                <a:latin typeface="Calibri"/>
              </a:rPr>
              <a:t>3</a:t>
            </a:r>
          </a:p>
        </p:txBody>
      </p:sp>
      <p:sp>
        <p:nvSpPr>
          <p:cNvPr id="52" name="B3c"/>
          <p:cNvSpPr/>
          <p:nvPr/>
        </p:nvSpPr>
        <p:spPr>
          <a:xfrm>
            <a:off x="7498080" y="3383280"/>
            <a:ext cx="457200" cy="365760"/>
          </a:xfrm>
          <a:prstGeom prst="rect">
            <a:avLst/>
          </a:prstGeom>
          <a:solidFill>
            <a:srgbClr val="4ADE80">
              <a:alpha val="30000"/>
            </a:srgbClr>
          </a:solidFill>
          <a:ln w="19050">
            <a:solidFill>
              <a:srgbClr val="4ADE8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4ADE80"/>
                </a:solidFill>
                <a:latin typeface="Calibri"/>
              </a:rPr>
              <a:t>5</a:t>
            </a:r>
          </a:p>
        </p:txBody>
      </p:sp>
      <p:sp>
        <p:nvSpPr>
          <p:cNvPr id="53" name="Sorted"/>
          <p:cNvSpPr/>
          <p:nvPr/>
        </p:nvSpPr>
        <p:spPr>
          <a:xfrm>
            <a:off x="8046720" y="3383280"/>
            <a:ext cx="1097280" cy="36576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400" b="1" dirty="0">
                <a:solidFill>
                  <a:srgbClr val="4ADE80"/>
                </a:solidFill>
                <a:latin typeface="Calibri"/>
              </a:rPr>
              <a:t> ✓ Sorted!</a:t>
            </a:r>
          </a:p>
        </p:txBody>
      </p:sp>
      <p:sp>
        <p:nvSpPr>
          <p:cNvPr id="11" name="BottomNote"/>
          <p:cNvSpPr/>
          <p:nvPr/>
        </p:nvSpPr>
        <p:spPr>
          <a:xfrm>
            <a:off x="457200" y="4800600"/>
            <a:ext cx="8961120" cy="274320"/>
          </a:xfrm>
          <a:prstGeom prst="rect">
            <a:avLst/>
          </a:prstGeom>
          <a:solidFill>
            <a:srgbClr val="1A2744"/>
          </a:solidFill>
        </p:spPr>
        <p:txBody>
          <a:bodyPr lIns="91440" tIns="0" rIns="91440" bIns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/>
              </a:rPr>
              <a:t>Same pattern at scale: </a:t>
            </a:r>
            <a:r>
              <a:rPr lang="en-US" sz="1200" b="1" dirty="0">
                <a:solidFill>
                  <a:srgbClr val="38BDF8"/>
                </a:solidFill>
                <a:latin typeface="Calibri"/>
              </a:rPr>
              <a:t>27 elements × 13 layers × ~185 comparators</a:t>
            </a:r>
            <a:r>
              <a:rPr lang="en-US" sz="1200" dirty="0">
                <a:solidFill>
                  <a:srgbClr val="94A3B8"/>
                </a:solidFill>
                <a:latin typeface="Calibri"/>
              </a:rPr>
              <a:t> — all code-generated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Scalar Implementation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compare-and-swap is unrolled into straight-line code — no loops, no branches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Sort 27 elements with a depth-13 sorting network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e0 = first;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e1 = Unsafe.Add(ref first, 1);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load e2 through e26 ...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Layer 1 comparators: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(e1  &gt; e26) { int t = e1;  e1  = e26; e26 = t;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(e2  &gt; e25) { int t = e2;  e2  = e25; e25 = t;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(e3  &gt; e24) { int t = e3;  e3  = e24; e24 = t;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13 layers, ~185 total comparators ...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Write sorted values back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= e0; Unsafe.Add(ref first, 1) = e1; // ...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246888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754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No bounds checks</a:t>
            </a:r>
            <a:r>
              <a:rPr lang="en-US" sz="1000" dirty="0">
                <a:solidFill>
                  <a:srgbClr val="64748B"/>
                </a:solidFill>
              </a:rPr>
              <a:t>  Unsafe.Add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4754880"/>
            <a:ext cx="246888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0" y="4754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</a:rPr>
              <a:t>Type-specific &gt;</a:t>
            </a:r>
            <a:r>
              <a:rPr lang="en-US" sz="1000" dirty="0">
                <a:solidFill>
                  <a:srgbClr val="64748B"/>
                </a:solidFill>
              </a:rPr>
              <a:t>  No IComparable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4754880"/>
            <a:ext cx="246888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4754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Code-generated</a:t>
            </a:r>
            <a:r>
              <a:rPr lang="en-US" sz="1000" dirty="0">
                <a:solidFill>
                  <a:srgbClr val="64748B"/>
                </a:solidFill>
              </a:rPr>
              <a:t>  generate_unrolled.cs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Attempt: The Generic Approach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solidFill>
            <a:srgbClr val="3B18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#1: The first implementation used a generic loop with IComparable&lt;T&gt;.CompareTo() — it was slower!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#1 — Commit a966314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Generic loop — overhead of CompareTo + virtual dispatch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void ApplyNetwork&lt;T&gt;(Span&lt;T&gt; span, int[] network)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T : IComparable&lt;T&gt;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 = 0; i &lt; network.Length; i += 2)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 T a = ref Unsafe.Add(ref first, network[i]);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(a.CompareTo(b) &gt; 0) { /* swap */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IComparable&lt;T&gt;.CompareTo()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virtual dispatch on every comparison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+ array indexing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network[i] indirection on every step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 constraints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prevents JIT from using native &gt; operator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SIMD: Hardware Intrinsics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scalar if/swap with vectorized min/max/blend — process an entire layer at once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51760" cy="329184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51760" cy="457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54480" y="1463040"/>
            <a:ext cx="548640" cy="548640"/>
          </a:xfrm>
          <a:prstGeom prst="ellipse">
            <a:avLst/>
          </a:prstGeom>
          <a:solidFill>
            <a:srgbClr val="38BDF8">
              <a:alpha val="20000"/>
            </a:srgbClr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elements to pair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comparators for this layer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2377440" cy="12344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Vector256.Shuffle(vec,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layerPermutation)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29000" y="1280160"/>
            <a:ext cx="2651760" cy="329184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29000" y="1280160"/>
            <a:ext cx="2651760" cy="4572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34840" y="1463040"/>
            <a:ext cx="548640" cy="548640"/>
          </a:xfrm>
          <a:prstGeom prst="ellipse">
            <a:avLst/>
          </a:prstGeom>
          <a:solidFill>
            <a:srgbClr val="818CF8">
              <a:alpha val="20000"/>
            </a:srgbClr>
          </a:solidFill>
          <a:ln w="254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34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1188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1188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pairs in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simultaneously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3154680"/>
            <a:ext cx="2377440" cy="12344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3200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mins = Vector256.Min(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vec, shuffled);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maxs = Vector256.Max(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vec, shuffled);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1280160"/>
            <a:ext cx="2651760" cy="329184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1280160"/>
            <a:ext cx="265176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0" y="1463040"/>
            <a:ext cx="548640" cy="548640"/>
          </a:xfrm>
          <a:prstGeom prst="ellipse">
            <a:avLst/>
          </a:prstGeom>
          <a:solidFill>
            <a:srgbClr val="34D399">
              <a:alpha val="20000"/>
            </a:srgbClr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9224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9224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min or max for each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using a bitmask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3154680"/>
            <a:ext cx="2377440" cy="12344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37960" y="3200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 = ConditionalSelect(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layerMask, maxs, mins);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byte: </a:t>
            </a:r>
            <a:r>
              <a:rPr lang="en-US" sz="1200" dirty="0">
                <a:solidFill>
                  <a:srgbClr val="94A3B8"/>
                </a:solidFill>
              </a:rPr>
              <a:t>All 27 in one Vector256  |  </a:t>
            </a:r>
            <a:r>
              <a:rPr lang="en-US" sz="1200" b="1" dirty="0">
                <a:solidFill>
                  <a:srgbClr val="818CF8"/>
                </a:solidFill>
              </a:rPr>
              <a:t>int: </a:t>
            </a:r>
            <a:r>
              <a:rPr lang="en-US" sz="1200" dirty="0">
                <a:solidFill>
                  <a:srgbClr val="94A3B8"/>
                </a:solidFill>
              </a:rPr>
              <a:t>4× Vector256 (8 each)  |  </a:t>
            </a:r>
            <a:r>
              <a:rPr lang="en-US" sz="1200" b="1" dirty="0">
                <a:solidFill>
                  <a:srgbClr val="34D399"/>
                </a:solidFill>
              </a:rPr>
              <a:t>double: </a:t>
            </a:r>
            <a:r>
              <a:rPr lang="en-US" sz="1200" dirty="0">
                <a:solidFill>
                  <a:srgbClr val="94A3B8"/>
                </a:solidFill>
              </a:rPr>
              <a:t>7× Vector256 (4 each)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31520" y="274320"/>
            <a:ext cx="7681596" cy="64008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3200" b="1" dirty="0">
                <a:solidFill>
                  <a:srgbClr val="F1F5F9"/>
                </a:solidFill>
                <a:latin typeface="Calibri"/>
              </a:rPr>
              <a:t>Trust, but Verify</a:t>
            </a:r>
          </a:p>
        </p:txBody>
      </p:sp>
      <p:sp>
        <p:nvSpPr>
          <p:cNvPr id="3" name="BannerBg"/>
          <p:cNvSpPr/>
          <p:nvPr/>
        </p:nvSpPr>
        <p:spPr>
          <a:xfrm>
            <a:off x="731520" y="914400"/>
            <a:ext cx="8138160" cy="457200"/>
          </a:xfrm>
          <a:prstGeom prst="rect">
            <a:avLst/>
          </a:prstGeom>
          <a:solidFill>
            <a:srgbClr val="3B1818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BannerAccent"/>
          <p:cNvSpPr/>
          <p:nvPr/>
        </p:nvSpPr>
        <p:spPr>
          <a:xfrm>
            <a:off x="731520" y="914400"/>
            <a:ext cx="54864" cy="457200"/>
          </a:xfrm>
          <a:prstGeom prst="rect">
            <a:avLst/>
          </a:prstGeom>
          <a:solidFill>
            <a:srgbClr val="F87171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BannerText"/>
          <p:cNvSpPr/>
          <p:nvPr/>
        </p:nvSpPr>
        <p:spPr>
          <a:xfrm>
            <a:off x="914400" y="937260"/>
            <a:ext cx="7772400" cy="41148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400" dirty="0">
                <a:solidFill>
                  <a:srgbClr val="F87171"/>
                </a:solidFill>
                <a:latin typeface="Calibri"/>
              </a:rPr>
              <a:t>AI can write code that </a:t>
            </a:r>
            <a:r>
              <a:rPr lang="en-US" sz="1400" i="1" dirty="0">
                <a:solidFill>
                  <a:srgbClr val="F87171"/>
                </a:solidFill>
                <a:latin typeface="Calibri"/>
              </a:rPr>
              <a:t>looks</a:t>
            </a:r>
            <a:r>
              <a:rPr lang="en-US" sz="1400" dirty="0">
                <a:solidFill>
                  <a:srgbClr val="F87171"/>
                </a:solidFill>
                <a:latin typeface="Calibri"/>
              </a:rPr>
              <a:t> fast. Only rigorous benchmarking tells you if it </a:t>
            </a:r>
            <a:r>
              <a:rPr lang="en-US" sz="1400" i="1" dirty="0">
                <a:solidFill>
                  <a:srgbClr val="F87171"/>
                </a:solidFill>
                <a:latin typeface="Calibri"/>
              </a:rPr>
              <a:t>actually is.</a:t>
            </a:r>
          </a:p>
        </p:txBody>
      </p:sp>
      <p:sp>
        <p:nvSpPr>
          <p:cNvPr id="10" name="BdnCard"/>
          <p:cNvSpPr/>
          <p:nvPr/>
        </p:nvSpPr>
        <p:spPr>
          <a:xfrm>
            <a:off x="457200" y="1554480"/>
            <a:ext cx="4389120" cy="2651760"/>
          </a:xfrm>
          <a:prstGeom prst="rect">
            <a:avLst/>
          </a:prstGeom>
          <a:solidFill>
            <a:srgbClr val="1E2D4F"/>
          </a:solidFill>
          <a:effectLst>
            <a:outerShdw blurRad="101600" dist="38100" dir="81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dnAccent"/>
          <p:cNvSpPr/>
          <p:nvPr/>
        </p:nvSpPr>
        <p:spPr>
          <a:xfrm>
            <a:off x="457200" y="1554480"/>
            <a:ext cx="4389120" cy="54864"/>
          </a:xfrm>
          <a:prstGeom prst="rect">
            <a:avLst/>
          </a:prstGeom>
          <a:solidFill>
            <a:srgbClr val="38BDF8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BdnTitle"/>
          <p:cNvSpPr/>
          <p:nvPr/>
        </p:nvSpPr>
        <p:spPr>
          <a:xfrm>
            <a:off x="594360" y="1691640"/>
            <a:ext cx="4114800" cy="27432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1800" b="1" dirty="0">
                <a:solidFill>
                  <a:srgbClr val="38BDF8"/>
                </a:solidFill>
                <a:latin typeface="Calibri"/>
              </a:rPr>
              <a:t>BenchmarkDotNet</a:t>
            </a:r>
          </a:p>
        </p:txBody>
      </p:sp>
      <p:sp>
        <p:nvSpPr>
          <p:cNvPr id="13" name="BdnFeatures"/>
          <p:cNvSpPr/>
          <p:nvPr/>
        </p:nvSpPr>
        <p:spPr>
          <a:xfrm>
            <a:off x="594360" y="1965960"/>
            <a:ext cx="4114800" cy="2057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b="1" dirty="0">
                <a:solidFill>
                  <a:srgbClr val="34D399"/>
                </a:solidFill>
                <a:latin typeface="Calibri"/>
              </a:rPr>
              <a:t>Warmup + iteration control</a:t>
            </a:r>
          </a:p>
          <a:p>
            <a:pPr algn="l"/>
            <a:r>
              <a:rPr lang="en-US" sz="1000" dirty="0">
                <a:solidFill>
                  <a:srgbClr val="94A3B8"/>
                </a:solidFill>
                <a:latin typeface="Calibri"/>
              </a:rPr>
              <a:t>5 warmup rounds, 15 measured iterations</a:t>
            </a:r>
          </a:p>
          <a:p>
            <a:pPr algn="l"/>
            <a:r>
              <a:rPr lang="en-US" sz="600" dirty="0">
                <a:solidFill>
                  <a:srgbClr val="1E2D4F"/>
                </a:solidFill>
                <a:latin typeface="Calibri"/>
              </a:rPr>
              <a:t> </a:t>
            </a:r>
          </a:p>
          <a:p>
            <a:pPr algn="l"/>
            <a:r>
              <a:rPr lang="en-US" sz="1100" b="1" dirty="0">
                <a:solidFill>
                  <a:srgbClr val="34D399"/>
                </a:solidFill>
                <a:latin typeface="Calibri"/>
              </a:rPr>
              <a:t>Statistical rigor</a:t>
            </a:r>
          </a:p>
          <a:p>
            <a:pPr algn="l"/>
            <a:r>
              <a:rPr lang="en-US" sz="1000" dirty="0">
                <a:solidFill>
                  <a:srgbClr val="94A3B8"/>
                </a:solidFill>
                <a:latin typeface="Calibri"/>
              </a:rPr>
              <a:t>Mean, error, StdDev, ratios with confidence</a:t>
            </a:r>
          </a:p>
          <a:p>
            <a:pPr algn="l"/>
            <a:r>
              <a:rPr lang="en-US" sz="600" dirty="0">
                <a:solidFill>
                  <a:srgbClr val="1E2D4F"/>
                </a:solidFill>
                <a:latin typeface="Calibri"/>
              </a:rPr>
              <a:t> </a:t>
            </a:r>
          </a:p>
          <a:p>
            <a:pPr algn="l"/>
            <a:r>
              <a:rPr lang="en-US" sz="1100" b="1" dirty="0">
                <a:solidFill>
                  <a:srgbClr val="34D399"/>
                </a:solidFill>
                <a:latin typeface="Calibri"/>
              </a:rPr>
              <a:t>Memory diagnostics</a:t>
            </a:r>
          </a:p>
          <a:p>
            <a:pPr algn="l"/>
            <a:r>
              <a:rPr lang="en-US" sz="1000" dirty="0">
                <a:solidFill>
                  <a:srgbClr val="94A3B8"/>
                </a:solidFill>
                <a:latin typeface="Calibri"/>
              </a:rPr>
              <a:t>[MemoryDiagnoser] confirms zero allocations</a:t>
            </a:r>
          </a:p>
          <a:p>
            <a:pPr algn="l"/>
            <a:r>
              <a:rPr lang="en-US" sz="600" dirty="0">
                <a:solidFill>
                  <a:srgbClr val="1E2D4F"/>
                </a:solidFill>
                <a:latin typeface="Calibri"/>
              </a:rPr>
              <a:t> </a:t>
            </a:r>
          </a:p>
          <a:p>
            <a:pPr algn="l"/>
            <a:r>
              <a:rPr lang="en-US" sz="1100" b="1" dirty="0">
                <a:solidFill>
                  <a:srgbClr val="34D399"/>
                </a:solidFill>
                <a:latin typeface="Calibri"/>
              </a:rPr>
              <a:t>Batched ops</a:t>
            </a:r>
          </a:p>
          <a:p>
            <a:pPr algn="l"/>
            <a:r>
              <a:rPr lang="en-US" sz="1000" dirty="0">
                <a:solidFill>
                  <a:srgbClr val="94A3B8"/>
                </a:solidFill>
                <a:latin typeface="Calibri"/>
              </a:rPr>
              <a:t>1000 ops/invoke to reduce timer overhead</a:t>
            </a:r>
          </a:p>
        </p:txBody>
      </p:sp>
      <p:sp>
        <p:nvSpPr>
          <p:cNvPr id="20" name="CodeBg"/>
          <p:cNvSpPr/>
          <p:nvPr/>
        </p:nvSpPr>
        <p:spPr>
          <a:xfrm>
            <a:off x="5029200" y="1554480"/>
            <a:ext cx="4114800" cy="2651760"/>
          </a:xfrm>
          <a:prstGeom prst="rect">
            <a:avLst/>
          </a:prstGeom>
          <a:solidFill>
            <a:srgbClr val="0D1117"/>
          </a:solidFill>
          <a:effectLst>
            <a:outerShdw blurRad="101600" dist="38100" dir="81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Code"/>
          <p:cNvSpPr/>
          <p:nvPr/>
        </p:nvSpPr>
        <p:spPr>
          <a:xfrm>
            <a:off x="5120640" y="1600200"/>
            <a:ext cx="3931920" cy="2560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900" dirty="0">
                <a:solidFill>
                  <a:srgbClr val="818CF8"/>
                </a:solidFill>
                <a:latin typeface="Consolas"/>
              </a:rPr>
              <a:t>[MemoryDiagnoser]</a:t>
            </a:r>
          </a:p>
          <a:p>
            <a:pPr algn="l"/>
            <a:r>
              <a:rPr lang="en-US" sz="900" dirty="0">
                <a:solidFill>
                  <a:srgbClr val="818CF8"/>
                </a:solidFill>
                <a:latin typeface="Consolas"/>
              </a:rPr>
              <a:t>[SimpleJob(warmupCount: 5, iterationCount: 15)]</a:t>
            </a:r>
          </a:p>
          <a:p>
            <a:pPr algn="l"/>
            <a:r>
              <a:rPr lang="en-US" sz="900" dirty="0">
                <a:solidFill>
                  <a:srgbClr val="818CF8"/>
                </a:solidFill>
                <a:latin typeface="Consolas"/>
              </a:rPr>
              <a:t>public class</a:t>
            </a:r>
            <a:r>
              <a:rPr lang="en-US" sz="900" dirty="0">
                <a:solidFill>
                  <a:srgbClr val="F1F5F9"/>
                </a:solidFill>
                <a:latin typeface="Consolas"/>
              </a:rPr>
              <a:t> IntSortingBenchmarks {</a:t>
            </a:r>
          </a:p>
          <a:p>
            <a:pPr algn="l"/>
            <a:r>
              <a:rPr lang="en-US" sz="500" dirty="0">
                <a:solidFill>
                  <a:srgbClr val="0D1117"/>
                </a:solidFill>
                <a:latin typeface="Consolas"/>
              </a:rPr>
              <a:t> </a:t>
            </a:r>
          </a:p>
          <a:p>
            <a:pPr algn="l"/>
            <a:r>
              <a:rPr lang="en-US" sz="900" dirty="0">
                <a:solidFill>
                  <a:srgbClr val="F1F5F9"/>
                </a:solidFill>
                <a:latin typeface="Consolas"/>
              </a:rPr>
              <a:t>  [Params(27, 28)]</a:t>
            </a:r>
          </a:p>
          <a:p>
            <a:pPr algn="l"/>
            <a:r>
              <a:rPr lang="en-US" sz="900" dirty="0">
                <a:solidFill>
                  <a:srgbClr val="94A3B8"/>
                </a:solidFill>
                <a:latin typeface="Consolas"/>
              </a:rPr>
              <a:t>  </a:t>
            </a:r>
            <a:r>
              <a:rPr lang="en-US" sz="900" dirty="0">
                <a:solidFill>
                  <a:srgbClr val="818CF8"/>
                </a:solidFill>
                <a:latin typeface="Consolas"/>
              </a:rPr>
              <a:t>public int</a:t>
            </a:r>
            <a:r>
              <a:rPr lang="en-US" sz="900" dirty="0">
                <a:solidFill>
                  <a:srgbClr val="F1F5F9"/>
                </a:solidFill>
                <a:latin typeface="Consolas"/>
              </a:rPr>
              <a:t> Length { </a:t>
            </a:r>
            <a:r>
              <a:rPr lang="en-US" sz="900" dirty="0">
                <a:solidFill>
                  <a:srgbClr val="818CF8"/>
                </a:solidFill>
                <a:latin typeface="Consolas"/>
              </a:rPr>
              <a:t>get; set;</a:t>
            </a:r>
            <a:r>
              <a:rPr lang="en-US" sz="900" dirty="0">
                <a:solidFill>
                  <a:srgbClr val="F1F5F9"/>
                </a:solidFill>
                <a:latin typeface="Consolas"/>
              </a:rPr>
              <a:t> }</a:t>
            </a:r>
          </a:p>
          <a:p>
            <a:pPr algn="l"/>
            <a:r>
              <a:rPr lang="en-US" sz="900" dirty="0">
                <a:solidFill>
                  <a:srgbClr val="F1F5F9"/>
                </a:solidFill>
                <a:latin typeface="Consolas"/>
              </a:rPr>
              <a:t>  [ParamsAllValues]</a:t>
            </a:r>
          </a:p>
          <a:p>
            <a:pPr algn="l"/>
            <a:r>
              <a:rPr lang="en-US" sz="900" dirty="0">
                <a:solidFill>
                  <a:srgbClr val="94A3B8"/>
                </a:solidFill>
                <a:latin typeface="Consolas"/>
              </a:rPr>
              <a:t>  </a:t>
            </a:r>
            <a:r>
              <a:rPr lang="en-US" sz="900" dirty="0">
                <a:solidFill>
                  <a:srgbClr val="818CF8"/>
                </a:solidFill>
                <a:latin typeface="Consolas"/>
              </a:rPr>
              <a:t>public</a:t>
            </a:r>
            <a:r>
              <a:rPr lang="en-US" sz="900" dirty="0">
                <a:solidFill>
                  <a:srgbClr val="F1F5F9"/>
                </a:solidFill>
                <a:latin typeface="Consolas"/>
              </a:rPr>
              <a:t> InputKind Kind { </a:t>
            </a:r>
            <a:r>
              <a:rPr lang="en-US" sz="900" dirty="0">
                <a:solidFill>
                  <a:srgbClr val="818CF8"/>
                </a:solidFill>
                <a:latin typeface="Consolas"/>
              </a:rPr>
              <a:t>get; set;</a:t>
            </a:r>
            <a:r>
              <a:rPr lang="en-US" sz="900" dirty="0">
                <a:solidFill>
                  <a:srgbClr val="F1F5F9"/>
                </a:solidFill>
                <a:latin typeface="Consolas"/>
              </a:rPr>
              <a:t> }</a:t>
            </a:r>
          </a:p>
          <a:p>
            <a:pPr algn="l"/>
            <a:r>
              <a:rPr lang="en-US" sz="500" dirty="0">
                <a:solidFill>
                  <a:srgbClr val="0D1117"/>
                </a:solidFill>
                <a:latin typeface="Consolas"/>
              </a:rPr>
              <a:t> 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Consolas"/>
              </a:rPr>
              <a:t>  // Baseline: the BCL sort</a:t>
            </a:r>
          </a:p>
          <a:p>
            <a:pPr algn="l"/>
            <a:r>
              <a:rPr lang="en-US" sz="900" dirty="0">
                <a:solidFill>
                  <a:srgbClr val="F1F5F9"/>
                </a:solidFill>
                <a:latin typeface="Consolas"/>
              </a:rPr>
              <a:t>  [Benchmark(Baseline = </a:t>
            </a:r>
            <a:r>
              <a:rPr lang="en-US" sz="900" dirty="0">
                <a:solidFill>
                  <a:srgbClr val="818CF8"/>
                </a:solidFill>
                <a:latin typeface="Consolas"/>
              </a:rPr>
              <a:t>true</a:t>
            </a:r>
            <a:r>
              <a:rPr lang="en-US" sz="900" dirty="0">
                <a:solidFill>
                  <a:srgbClr val="F1F5F9"/>
                </a:solidFill>
                <a:latin typeface="Consolas"/>
              </a:rPr>
              <a:t>)]</a:t>
            </a:r>
          </a:p>
          <a:p>
            <a:pPr algn="l"/>
            <a:r>
              <a:rPr lang="en-US" sz="900" dirty="0">
                <a:solidFill>
                  <a:srgbClr val="94A3B8"/>
                </a:solidFill>
                <a:latin typeface="Consolas"/>
              </a:rPr>
              <a:t>  </a:t>
            </a:r>
            <a:r>
              <a:rPr lang="en-US" sz="900" dirty="0">
                <a:solidFill>
                  <a:srgbClr val="818CF8"/>
                </a:solidFill>
                <a:latin typeface="Consolas"/>
              </a:rPr>
              <a:t>public void</a:t>
            </a:r>
            <a:r>
              <a:rPr lang="en-US" sz="900" dirty="0">
                <a:solidFill>
                  <a:srgbClr val="F1F5F9"/>
                </a:solidFill>
                <a:latin typeface="Consolas"/>
              </a:rPr>
              <a:t> ArraySort() =&gt; ...;</a:t>
            </a:r>
          </a:p>
          <a:p>
            <a:pPr algn="l"/>
            <a:r>
              <a:rPr lang="en-US" sz="500" dirty="0">
                <a:solidFill>
                  <a:srgbClr val="0D1117"/>
                </a:solidFill>
                <a:latin typeface="Consolas"/>
              </a:rPr>
              <a:t> </a:t>
            </a:r>
          </a:p>
          <a:p>
            <a:pPr algn="l"/>
            <a:r>
              <a:rPr lang="en-US" sz="900" dirty="0">
                <a:solidFill>
                  <a:srgbClr val="64748B"/>
                </a:solidFill>
                <a:latin typeface="Consolas"/>
              </a:rPr>
              <a:t>  // The challenger</a:t>
            </a:r>
          </a:p>
          <a:p>
            <a:pPr algn="l"/>
            <a:r>
              <a:rPr lang="en-US" sz="900" dirty="0">
                <a:solidFill>
                  <a:srgbClr val="F1F5F9"/>
                </a:solidFill>
                <a:latin typeface="Consolas"/>
              </a:rPr>
              <a:t>  [Benchmark]</a:t>
            </a:r>
          </a:p>
          <a:p>
            <a:pPr algn="l"/>
            <a:r>
              <a:rPr lang="en-US" sz="900" dirty="0">
                <a:solidFill>
                  <a:srgbClr val="94A3B8"/>
                </a:solidFill>
                <a:latin typeface="Consolas"/>
              </a:rPr>
              <a:t>  </a:t>
            </a:r>
            <a:r>
              <a:rPr lang="en-US" sz="900" dirty="0">
                <a:solidFill>
                  <a:srgbClr val="818CF8"/>
                </a:solidFill>
                <a:latin typeface="Consolas"/>
              </a:rPr>
              <a:t>public void</a:t>
            </a:r>
            <a:r>
              <a:rPr lang="en-US" sz="900" dirty="0">
                <a:solidFill>
                  <a:srgbClr val="F1F5F9"/>
                </a:solidFill>
                <a:latin typeface="Consolas"/>
              </a:rPr>
              <a:t> NetworkSort() =&gt; ...;</a:t>
            </a:r>
          </a:p>
          <a:p>
            <a:pPr algn="l"/>
            <a:r>
              <a:rPr lang="en-US" sz="900" dirty="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30" name="BottomBg"/>
          <p:cNvSpPr/>
          <p:nvPr/>
        </p:nvSpPr>
        <p:spPr>
          <a:xfrm>
            <a:off x="457200" y="4389120"/>
            <a:ext cx="8595360" cy="731520"/>
          </a:xfrm>
          <a:prstGeom prst="rect">
            <a:avLst/>
          </a:prstGeom>
          <a:solidFill>
            <a:srgbClr val="1A2744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BottomText"/>
          <p:cNvSpPr/>
          <p:nvPr/>
        </p:nvSpPr>
        <p:spPr>
          <a:xfrm>
            <a:off x="594360" y="4434840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300" b="1" dirty="0">
                <a:solidFill>
                  <a:srgbClr val="FB923C"/>
                </a:solidFill>
                <a:latin typeface="Calibri"/>
              </a:rPr>
              <a:t>Remember PR #1? </a:t>
            </a:r>
            <a:r>
              <a:rPr lang="en-US" sz="1300" dirty="0">
                <a:solidFill>
                  <a:srgbClr val="94A3B8"/>
                </a:solidFill>
                <a:latin typeface="Calibri"/>
              </a:rPr>
              <a:t>The generic IComparable loop </a:t>
            </a:r>
            <a:r>
              <a:rPr lang="en-US" sz="1300" i="1" dirty="0">
                <a:solidFill>
                  <a:srgbClr val="F87171"/>
                </a:solidFill>
                <a:latin typeface="Calibri"/>
              </a:rPr>
              <a:t>looked correct</a:t>
            </a:r>
            <a:r>
              <a:rPr lang="en-US" sz="1300" dirty="0">
                <a:solidFill>
                  <a:srgbClr val="94A3B8"/>
                </a:solidFill>
                <a:latin typeface="Calibri"/>
              </a:rPr>
              <a:t> but was </a:t>
            </a:r>
            <a:r>
              <a:rPr lang="en-US" sz="1300" b="1" dirty="0">
                <a:solidFill>
                  <a:srgbClr val="F87171"/>
                </a:solidFill>
                <a:latin typeface="Calibri"/>
              </a:rPr>
              <a:t>slower</a:t>
            </a:r>
            <a:r>
              <a:rPr lang="en-US" sz="1300" dirty="0">
                <a:solidFill>
                  <a:srgbClr val="94A3B8"/>
                </a:solidFill>
                <a:latin typeface="Calibri"/>
              </a:rPr>
              <a:t> than Array.Sort.</a:t>
            </a:r>
          </a:p>
          <a:p>
            <a:pPr algn="l"/>
            <a:r>
              <a:rPr lang="en-US" sz="1100" dirty="0">
                <a:solidFill>
                  <a:srgbClr val="64748B"/>
                </a:solidFill>
                <a:latin typeface="Calibri"/>
              </a:rPr>
              <a:t>BenchmarkDotNet caught this immediately. Without measurement, we would have shipped slower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31520" y="274320"/>
            <a:ext cx="7681596" cy="64008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3200" b="1" dirty="0">
                <a:solidFill>
                  <a:srgbClr val="F1F5F9"/>
                </a:solidFill>
                <a:latin typeface="Calibri"/>
              </a:rPr>
              <a:t>CI: GitHub Actions</a:t>
            </a:r>
          </a:p>
        </p:txBody>
      </p:sp>
      <p:sp>
        <p:nvSpPr>
          <p:cNvPr id="3" name="Subtitle"/>
          <p:cNvSpPr/>
          <p:nvPr/>
        </p:nvSpPr>
        <p:spPr>
          <a:xfrm>
            <a:off x="731520" y="822960"/>
            <a:ext cx="8138160" cy="27432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1300" dirty="0">
                <a:solidFill>
                  <a:srgbClr val="94A3B8"/>
                </a:solidFill>
                <a:latin typeface="Calibri"/>
              </a:rPr>
              <a:t>Every push and PR runs build, test, and benchmarks across 4 platforms — covering x86, ARM64, and all SIMD paths</a:t>
            </a:r>
          </a:p>
        </p:txBody>
      </p:sp>
      <p:sp>
        <p:nvSpPr>
          <p:cNvPr id="10" name="BuildCard"/>
          <p:cNvSpPr/>
          <p:nvPr/>
        </p:nvSpPr>
        <p:spPr>
          <a:xfrm>
            <a:off x="457200" y="1188720"/>
            <a:ext cx="4206240" cy="1554480"/>
          </a:xfrm>
          <a:prstGeom prst="rect">
            <a:avLst/>
          </a:prstGeom>
          <a:solidFill>
            <a:srgbClr val="1E2D4F"/>
          </a:solidFill>
          <a:effectLst>
            <a:outerShdw blurRad="101600" dist="38100" dir="81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BuildAccent"/>
          <p:cNvSpPr/>
          <p:nvPr/>
        </p:nvSpPr>
        <p:spPr>
          <a:xfrm>
            <a:off x="457200" y="1188720"/>
            <a:ext cx="4206240" cy="54864"/>
          </a:xfrm>
          <a:prstGeom prst="rect">
            <a:avLst/>
          </a:prstGeom>
          <a:solidFill>
            <a:srgbClr val="38BDF8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BuildTitle"/>
          <p:cNvSpPr/>
          <p:nvPr/>
        </p:nvSpPr>
        <p:spPr>
          <a:xfrm>
            <a:off x="594360" y="1325880"/>
            <a:ext cx="3931920" cy="27432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1800" b="1" dirty="0">
                <a:solidFill>
                  <a:srgbClr val="38BDF8"/>
                </a:solidFill>
                <a:latin typeface="Calibri"/>
              </a:rPr>
              <a:t>build</a:t>
            </a:r>
            <a:r>
              <a:rPr lang="en-US" sz="1200" dirty="0">
                <a:solidFill>
                  <a:srgbClr val="64748B"/>
                </a:solidFill>
                <a:latin typeface="Calibri"/>
              </a:rPr>
              <a:t>  (ubuntu-latest)</a:t>
            </a:r>
          </a:p>
        </p:txBody>
      </p:sp>
      <p:sp>
        <p:nvSpPr>
          <p:cNvPr id="13" name="BuildSteps"/>
          <p:cNvSpPr/>
          <p:nvPr/>
        </p:nvSpPr>
        <p:spPr>
          <a:xfrm>
            <a:off x="594360" y="1600200"/>
            <a:ext cx="3931920" cy="10515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onsolas"/>
              </a:rPr>
              <a:t>dotnet build -c Release</a:t>
            </a:r>
          </a:p>
          <a:p>
            <a:pPr algn="l"/>
            <a:r>
              <a:rPr lang="en-US" sz="1100" dirty="0">
                <a:solidFill>
                  <a:srgbClr val="F1F5F9"/>
                </a:solidFill>
                <a:latin typeface="Consolas"/>
              </a:rPr>
              <a:t>dotnet pack -c Release</a:t>
            </a:r>
          </a:p>
          <a:p>
            <a:pPr algn="l"/>
            <a:r>
              <a:rPr lang="en-US" sz="1000" dirty="0">
                <a:solidFill>
                  <a:srgbClr val="64748B"/>
                </a:solidFill>
                <a:latin typeface="Calibri"/>
              </a:rPr>
              <a:t>Upload .nupkg + binlog artifacts</a:t>
            </a:r>
          </a:p>
        </p:txBody>
      </p:sp>
      <p:sp>
        <p:nvSpPr>
          <p:cNvPr id="20" name="TestCard"/>
          <p:cNvSpPr/>
          <p:nvPr/>
        </p:nvSpPr>
        <p:spPr>
          <a:xfrm>
            <a:off x="4846320" y="1188720"/>
            <a:ext cx="4206240" cy="1554480"/>
          </a:xfrm>
          <a:prstGeom prst="rect">
            <a:avLst/>
          </a:prstGeom>
          <a:solidFill>
            <a:srgbClr val="1E2D4F"/>
          </a:solidFill>
          <a:effectLst>
            <a:outerShdw blurRad="101600" dist="38100" dir="81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stAccent"/>
          <p:cNvSpPr/>
          <p:nvPr/>
        </p:nvSpPr>
        <p:spPr>
          <a:xfrm>
            <a:off x="4846320" y="1188720"/>
            <a:ext cx="4206240" cy="54864"/>
          </a:xfrm>
          <a:prstGeom prst="rect">
            <a:avLst/>
          </a:prstGeom>
          <a:solidFill>
            <a:srgbClr val="34D399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stTitle"/>
          <p:cNvSpPr/>
          <p:nvPr/>
        </p:nvSpPr>
        <p:spPr>
          <a:xfrm>
            <a:off x="4983480" y="1325880"/>
            <a:ext cx="3931920" cy="27432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1800" b="1" dirty="0">
                <a:solidFill>
                  <a:srgbClr val="34D399"/>
                </a:solidFill>
                <a:latin typeface="Calibri"/>
              </a:rPr>
              <a:t>test &amp; benchmark</a:t>
            </a:r>
            <a:r>
              <a:rPr lang="en-US" sz="1200" dirty="0">
                <a:solidFill>
                  <a:srgbClr val="64748B"/>
                </a:solidFill>
                <a:latin typeface="Calibri"/>
              </a:rPr>
              <a:t>  (4× matrix)</a:t>
            </a:r>
          </a:p>
        </p:txBody>
      </p:sp>
      <p:sp>
        <p:nvSpPr>
          <p:cNvPr id="23" name="TestSteps"/>
          <p:cNvSpPr/>
          <p:nvPr/>
        </p:nvSpPr>
        <p:spPr>
          <a:xfrm>
            <a:off x="4983480" y="1600200"/>
            <a:ext cx="3931920" cy="10515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dirty="0">
                <a:solidFill>
                  <a:srgbClr val="F1F5F9"/>
                </a:solidFill>
                <a:latin typeface="Consolas"/>
              </a:rPr>
              <a:t>dotnet test -c Release</a:t>
            </a:r>
          </a:p>
          <a:p>
            <a:pPr algn="l"/>
            <a:r>
              <a:rPr lang="en-US" sz="1100" dirty="0">
                <a:solidFill>
                  <a:srgbClr val="F1F5F9"/>
                </a:solidFill>
                <a:latin typeface="Consolas"/>
              </a:rPr>
              <a:t>dotnet run --project Benchmarks</a:t>
            </a:r>
          </a:p>
          <a:p>
            <a:pPr algn="l"/>
            <a:r>
              <a:rPr lang="en-US" sz="1000" dirty="0">
                <a:solidFill>
                  <a:srgbClr val="64748B"/>
                </a:solidFill>
                <a:latin typeface="Calibri"/>
              </a:rPr>
              <a:t>161 tests + BenchmarkDotNet per OS</a:t>
            </a:r>
          </a:p>
        </p:txBody>
      </p:sp>
      <p:sp>
        <p:nvSpPr>
          <p:cNvPr id="40" name="OS1bg"/>
          <p:cNvSpPr/>
          <p:nvPr/>
        </p:nvSpPr>
        <p:spPr>
          <a:xfrm>
            <a:off x="457200" y="2926080"/>
            <a:ext cx="2011680" cy="1280160"/>
          </a:xfrm>
          <a:prstGeom prst="rect">
            <a:avLst/>
          </a:prstGeom>
          <a:solidFill>
            <a:srgbClr val="1E2D4F"/>
          </a:solidFill>
          <a:effectLst>
            <a:outerShdw blurRad="76200" dist="25400" dir="810000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OS1title"/>
          <p:cNvSpPr/>
          <p:nvPr/>
        </p:nvSpPr>
        <p:spPr>
          <a:xfrm>
            <a:off x="548640" y="2971800"/>
            <a:ext cx="1828800" cy="2286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1200" b="1" dirty="0">
                <a:solidFill>
                  <a:srgbClr val="F1F5F9"/>
                </a:solidFill>
                <a:latin typeface="Consolas"/>
              </a:rPr>
              <a:t>ubuntu-latest</a:t>
            </a:r>
          </a:p>
        </p:txBody>
      </p:sp>
      <p:sp>
        <p:nvSpPr>
          <p:cNvPr id="42" name="OS1info"/>
          <p:cNvSpPr/>
          <p:nvPr/>
        </p:nvSpPr>
        <p:spPr>
          <a:xfrm>
            <a:off x="548640" y="32004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000" dirty="0">
                <a:solidFill>
                  <a:srgbClr val="38BDF8"/>
                </a:solidFill>
                <a:latin typeface="Calibri"/>
              </a:rPr>
              <a:t>x64</a:t>
            </a:r>
          </a:p>
          <a:p>
            <a:pPr algn="ctr"/>
            <a:r>
              <a:rPr lang="en-US" sz="900" dirty="0">
                <a:solidFill>
                  <a:srgbClr val="94A3B8"/>
                </a:solidFill>
                <a:latin typeface="Calibri"/>
              </a:rPr>
              <a:t>AVX2 + AVX-512</a:t>
            </a:r>
          </a:p>
          <a:p>
            <a:pPr algn="ctr"/>
            <a:r>
              <a:rPr lang="en-US" sz="900" dirty="0">
                <a:solidFill>
                  <a:srgbClr val="64748B"/>
                </a:solidFill>
                <a:latin typeface="Calibri"/>
              </a:rPr>
              <a:t>AMD EPYC runner</a:t>
            </a:r>
          </a:p>
        </p:txBody>
      </p:sp>
      <p:sp>
        <p:nvSpPr>
          <p:cNvPr id="50" name="OS2bg"/>
          <p:cNvSpPr/>
          <p:nvPr/>
        </p:nvSpPr>
        <p:spPr>
          <a:xfrm>
            <a:off x="2651760" y="2926080"/>
            <a:ext cx="2011680" cy="1280160"/>
          </a:xfrm>
          <a:prstGeom prst="rect">
            <a:avLst/>
          </a:prstGeom>
          <a:solidFill>
            <a:srgbClr val="1E2D4F"/>
          </a:solidFill>
          <a:effectLst>
            <a:outerShdw blurRad="76200" dist="25400" dir="810000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OS2title"/>
          <p:cNvSpPr/>
          <p:nvPr/>
        </p:nvSpPr>
        <p:spPr>
          <a:xfrm>
            <a:off x="2743200" y="2971800"/>
            <a:ext cx="1828800" cy="2286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1100" b="1" dirty="0">
                <a:solidFill>
                  <a:srgbClr val="F1F5F9"/>
                </a:solidFill>
                <a:latin typeface="Consolas"/>
              </a:rPr>
              <a:t>ubuntu-24.04-arm</a:t>
            </a:r>
          </a:p>
        </p:txBody>
      </p:sp>
      <p:sp>
        <p:nvSpPr>
          <p:cNvPr id="52" name="OS2info"/>
          <p:cNvSpPr/>
          <p:nvPr/>
        </p:nvSpPr>
        <p:spPr>
          <a:xfrm>
            <a:off x="2743200" y="32004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000" dirty="0">
                <a:solidFill>
                  <a:srgbClr val="34D399"/>
                </a:solidFill>
                <a:latin typeface="Calibri"/>
              </a:rPr>
              <a:t>ARM64</a:t>
            </a:r>
          </a:p>
          <a:p>
            <a:pPr algn="ctr"/>
            <a:r>
              <a:rPr lang="en-US" sz="900" dirty="0">
                <a:solidFill>
                  <a:srgbClr val="94A3B8"/>
                </a:solidFill>
                <a:latin typeface="Calibri"/>
              </a:rPr>
              <a:t>AdvSimd / NEON</a:t>
            </a:r>
          </a:p>
          <a:p>
            <a:pPr algn="ctr"/>
            <a:r>
              <a:rPr lang="en-US" sz="900" dirty="0">
                <a:solidFill>
                  <a:srgbClr val="64748B"/>
                </a:solidFill>
                <a:latin typeface="Calibri"/>
              </a:rPr>
              <a:t>Linux ARM64 runner</a:t>
            </a:r>
          </a:p>
        </p:txBody>
      </p:sp>
      <p:sp>
        <p:nvSpPr>
          <p:cNvPr id="60" name="OS3bg"/>
          <p:cNvSpPr/>
          <p:nvPr/>
        </p:nvSpPr>
        <p:spPr>
          <a:xfrm>
            <a:off x="4846320" y="2926080"/>
            <a:ext cx="2011680" cy="1280160"/>
          </a:xfrm>
          <a:prstGeom prst="rect">
            <a:avLst/>
          </a:prstGeom>
          <a:solidFill>
            <a:srgbClr val="1E2D4F"/>
          </a:solidFill>
          <a:effectLst>
            <a:outerShdw blurRad="76200" dist="25400" dir="810000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OS3title"/>
          <p:cNvSpPr/>
          <p:nvPr/>
        </p:nvSpPr>
        <p:spPr>
          <a:xfrm>
            <a:off x="4937760" y="2971800"/>
            <a:ext cx="1828800" cy="2286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1200" b="1" dirty="0">
                <a:solidFill>
                  <a:srgbClr val="F1F5F9"/>
                </a:solidFill>
                <a:latin typeface="Consolas"/>
              </a:rPr>
              <a:t>windows-latest</a:t>
            </a:r>
          </a:p>
        </p:txBody>
      </p:sp>
      <p:sp>
        <p:nvSpPr>
          <p:cNvPr id="62" name="OS3info"/>
          <p:cNvSpPr/>
          <p:nvPr/>
        </p:nvSpPr>
        <p:spPr>
          <a:xfrm>
            <a:off x="4937760" y="32004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000" dirty="0">
                <a:solidFill>
                  <a:srgbClr val="38BDF8"/>
                </a:solidFill>
                <a:latin typeface="Calibri"/>
              </a:rPr>
              <a:t>x64</a:t>
            </a:r>
          </a:p>
          <a:p>
            <a:pPr algn="ctr"/>
            <a:r>
              <a:rPr lang="en-US" sz="900" dirty="0">
                <a:solidFill>
                  <a:srgbClr val="94A3B8"/>
                </a:solidFill>
                <a:latin typeface="Calibri"/>
              </a:rPr>
              <a:t>AVX2 SIMD paths</a:t>
            </a:r>
          </a:p>
          <a:p>
            <a:pPr algn="ctr"/>
            <a:r>
              <a:rPr lang="en-US" sz="900" dirty="0">
                <a:solidFill>
                  <a:srgbClr val="64748B"/>
                </a:solidFill>
                <a:latin typeface="Calibri"/>
              </a:rPr>
              <a:t>Windows Server runner</a:t>
            </a:r>
          </a:p>
        </p:txBody>
      </p:sp>
      <p:sp>
        <p:nvSpPr>
          <p:cNvPr id="70" name="OS4bg"/>
          <p:cNvSpPr/>
          <p:nvPr/>
        </p:nvSpPr>
        <p:spPr>
          <a:xfrm>
            <a:off x="7040880" y="2926080"/>
            <a:ext cx="2011680" cy="1280160"/>
          </a:xfrm>
          <a:prstGeom prst="rect">
            <a:avLst/>
          </a:prstGeom>
          <a:solidFill>
            <a:srgbClr val="1E2D4F"/>
          </a:solidFill>
          <a:effectLst>
            <a:outerShdw blurRad="76200" dist="25400" dir="810000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OS4title"/>
          <p:cNvSpPr/>
          <p:nvPr/>
        </p:nvSpPr>
        <p:spPr>
          <a:xfrm>
            <a:off x="7132320" y="2971800"/>
            <a:ext cx="1828800" cy="2286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1200" b="1" dirty="0">
                <a:solidFill>
                  <a:srgbClr val="F1F5F9"/>
                </a:solidFill>
                <a:latin typeface="Consolas"/>
              </a:rPr>
              <a:t>macos-latest</a:t>
            </a:r>
          </a:p>
        </p:txBody>
      </p:sp>
      <p:sp>
        <p:nvSpPr>
          <p:cNvPr id="72" name="OS4info"/>
          <p:cNvSpPr/>
          <p:nvPr/>
        </p:nvSpPr>
        <p:spPr>
          <a:xfrm>
            <a:off x="7132320" y="32004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000" dirty="0">
                <a:solidFill>
                  <a:srgbClr val="34D399"/>
                </a:solidFill>
                <a:latin typeface="Calibri"/>
              </a:rPr>
              <a:t>ARM64</a:t>
            </a:r>
          </a:p>
          <a:p>
            <a:pPr algn="ctr"/>
            <a:r>
              <a:rPr lang="en-US" sz="900" dirty="0">
                <a:solidFill>
                  <a:srgbClr val="94A3B8"/>
                </a:solidFill>
                <a:latin typeface="Calibri"/>
              </a:rPr>
              <a:t>AdvSimd / NEON</a:t>
            </a:r>
          </a:p>
          <a:p>
            <a:pPr algn="ctr"/>
            <a:r>
              <a:rPr lang="en-US" sz="900" dirty="0">
                <a:solidFill>
                  <a:srgbClr val="64748B"/>
                </a:solidFill>
                <a:latin typeface="Calibri"/>
              </a:rPr>
              <a:t>Apple Silicon runner</a:t>
            </a:r>
          </a:p>
        </p:txBody>
      </p:sp>
      <p:sp>
        <p:nvSpPr>
          <p:cNvPr id="80" name="BottomBar"/>
          <p:cNvSpPr/>
          <p:nvPr/>
        </p:nvSpPr>
        <p:spPr>
          <a:xfrm>
            <a:off x="457200" y="4389120"/>
            <a:ext cx="8595360" cy="731520"/>
          </a:xfrm>
          <a:prstGeom prst="rect">
            <a:avLst/>
          </a:prstGeom>
          <a:solidFill>
            <a:srgbClr val="1A2744"/>
          </a:solidFill>
        </p:spPr>
        <p:txBody>
          <a:bodyPr/>
          <a:lstStyle/>
          <a:p>
            <a:endParaRPr lang="en-US"/>
          </a:p>
        </p:txBody>
      </p:sp>
      <p:sp>
        <p:nvSpPr>
          <p:cNvPr id="81" name="BottomContent"/>
          <p:cNvSpPr/>
          <p:nvPr/>
        </p:nvSpPr>
        <p:spPr>
          <a:xfrm>
            <a:off x="594360" y="4434840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b="1" dirty="0">
                <a:solidFill>
                  <a:srgbClr val="FB923C"/>
                </a:solidFill>
                <a:latin typeface="Calibri"/>
              </a:rPr>
              <a:t>summarize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job merges all benchmark results into the </a:t>
            </a:r>
            <a:r>
              <a:rPr lang="en-US" sz="1100" b="1" dirty="0">
                <a:solidFill>
                  <a:srgbClr val="F1F5F9"/>
                </a:solidFill>
                <a:latin typeface="Consolas"/>
              </a:rPr>
              <a:t>$GITHUB_STEP_SUMMARY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— viewable directly in the Actions UI</a:t>
            </a:r>
          </a:p>
          <a:p>
            <a:pPr algn="l"/>
            <a:r>
              <a:rPr lang="en-US" sz="1000" dirty="0">
                <a:solidFill>
                  <a:srgbClr val="64748B"/>
                </a:solidFill>
                <a:latin typeface="Calibri"/>
              </a:rPr>
              <a:t>Optional DisassemblyDiagnoser via workflow_dispatch  |  Copilot Code Review runs on every PR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x86 (Intel Core i9-9900K)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elements  •  .NET 10  •  AVX2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790132"/>
              </p:ext>
            </p:extLst>
          </p:nvPr>
        </p:nvGraphicFramePr>
        <p:xfrm>
          <a:off x="457200" y="1051560"/>
          <a:ext cx="7040880" cy="3703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Array.Sort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NetworkSort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byte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1,301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sbyte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1,452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1,636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76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1,648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short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1,402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1,404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104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57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uint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107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54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979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527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97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ulong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118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59780" y="1051560"/>
            <a:ext cx="1638300" cy="353378"/>
          </a:xfrm>
          <a:prstGeom prst="rect">
            <a:avLst/>
          </a:prstGeom>
          <a:solidFill>
            <a:srgbClr val="0D2818">
              <a:alpha val="70000"/>
            </a:srgbClr>
          </a:solidFill>
          <a:ln w="12700">
            <a:solidFill>
              <a:srgbClr val="4ADE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and ulong: .NET 10 already has SIMD-optimized Array.Sort for these types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Speedup: NetworkSort vs Array.Sort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elements  •  Intel Core i9-9900K  •  .NET 10  •  AVX2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520440"/>
          </a:xfrm>
          <a:prstGeom prst="rect">
            <a:avLst/>
          </a:prstGeom>
          <a:solidFill>
            <a:srgbClr val="1E2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1097280"/>
            <a:ext cx="5657850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12330" y="1097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sbyte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1417320"/>
            <a:ext cx="6000750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55230" y="1417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1737360"/>
            <a:ext cx="3771900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26380" y="1737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0574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63040" y="2057400"/>
            <a:ext cx="3086100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40580" y="2057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63040" y="2377440"/>
            <a:ext cx="2400300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54780" y="2377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6974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63040" y="2697480"/>
            <a:ext cx="2400300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54780" y="26974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63040" y="3017520"/>
            <a:ext cx="308610" cy="256032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63090" y="3017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3375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63040" y="3337560"/>
            <a:ext cx="342900" cy="256032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897380" y="33375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657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463040" y="3657600"/>
            <a:ext cx="325755" cy="256032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880235" y="3657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977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463040" y="3977640"/>
            <a:ext cx="205740" cy="25603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760220" y="39776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2976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463040" y="4297680"/>
            <a:ext cx="171450" cy="25603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725930" y="42976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20290" y="1097280"/>
            <a:ext cx="0" cy="352044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137410" y="461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177540" y="1097280"/>
            <a:ext cx="0" cy="352044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994660" y="461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034790" y="1097280"/>
            <a:ext cx="0" cy="352044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851910" y="461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92040" y="1097280"/>
            <a:ext cx="0" cy="352044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09160" y="461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49290" y="1097280"/>
            <a:ext cx="0" cy="352044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566410" y="461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606540" y="1097280"/>
            <a:ext cx="0" cy="352044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23660" y="461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463790" y="1097280"/>
            <a:ext cx="0" cy="352044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80910" y="461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321040" y="1097280"/>
            <a:ext cx="0" cy="352044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138160" y="4617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31520" y="4727448"/>
            <a:ext cx="182880" cy="1828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87552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10x+ SIMD vectorized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88920" y="4727448"/>
            <a:ext cx="182880" cy="1828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044952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5-10x significant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46320" y="4727448"/>
            <a:ext cx="182880" cy="18288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102352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1.5-5x moderate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903720" y="4727448"/>
            <a:ext cx="182880" cy="1828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159752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&lt;1.5x BCL already fast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ARM64 (Apple M1)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elements  •  .NET 10  •  AdvSimd / NEON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7040880" cy="362102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Array.Sort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NetworkSort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byte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1,200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sbyte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1,230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short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1,264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54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ushort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1,254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54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1,363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78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1,523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1,254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106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98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98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78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uint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108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75 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35967" y="1051560"/>
            <a:ext cx="1662113" cy="310515"/>
          </a:xfrm>
          <a:prstGeom prst="rect">
            <a:avLst/>
          </a:prstGeom>
          <a:solidFill>
            <a:srgbClr val="0D2818">
              <a:alpha val="70000"/>
            </a:srgbClr>
          </a:solidFill>
          <a:ln w="12700">
            <a:solidFill>
              <a:srgbClr val="4ADE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286000" y="4572000"/>
            <a:ext cx="4572000" cy="4572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28600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41x faster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byte on Apple M1 with NEON intrinsics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 Speedup: NetworkSort vs Array.Sort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elements  •  Apple M1  •  .NET 10  •  AdvSimd / NEON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520440"/>
          </a:xfrm>
          <a:prstGeom prst="rect">
            <a:avLst/>
          </a:prstGeom>
          <a:solidFill>
            <a:srgbClr val="1E2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1097280"/>
            <a:ext cx="6248400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02880" y="1097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sbyte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1417320"/>
            <a:ext cx="6248400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02880" y="1417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1737360"/>
            <a:ext cx="3505200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59680" y="1737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0574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ushort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63040" y="2057400"/>
            <a:ext cx="3505200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59680" y="2057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63040" y="2377440"/>
            <a:ext cx="2590800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45280" y="2377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6974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63040" y="2697480"/>
            <a:ext cx="2133600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88080" y="26974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63040" y="3017520"/>
            <a:ext cx="1828800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0" y="3017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3375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63040" y="3337560"/>
            <a:ext cx="304800" cy="256032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859280" y="33375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657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463040" y="3657600"/>
            <a:ext cx="198120" cy="25603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52600" y="3657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9776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463040" y="3977640"/>
            <a:ext cx="213360" cy="25603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767840" y="39776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25040" y="1097280"/>
            <a:ext cx="0" cy="320040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042160" y="4297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987040" y="1097280"/>
            <a:ext cx="0" cy="320040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804160" y="4297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49040" y="1097280"/>
            <a:ext cx="0" cy="320040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566160" y="4297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11040" y="1097280"/>
            <a:ext cx="0" cy="320040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328160" y="4297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273040" y="1097280"/>
            <a:ext cx="0" cy="320040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90160" y="4297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35040" y="1097280"/>
            <a:ext cx="0" cy="320040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852160" y="4297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97040" y="1097280"/>
            <a:ext cx="0" cy="320040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614160" y="4297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559040" y="1097280"/>
            <a:ext cx="0" cy="320040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376160" y="4297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321040" y="1097280"/>
            <a:ext cx="0" cy="320040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138160" y="4297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31520" y="4727448"/>
            <a:ext cx="182880" cy="1828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87552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10x+ SIMD vectorized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88920" y="4727448"/>
            <a:ext cx="182880" cy="1828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044952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5-10x significant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46320" y="4727448"/>
            <a:ext cx="182880" cy="18288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102352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1.5-5x moderate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03720" y="4727448"/>
            <a:ext cx="182880" cy="1828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159752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&lt;1.5x BCL already fast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Journey: 59 PRs in 3 Days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114300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54864" cy="1143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Foundation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#1: Generic sorting network (slower than BCL!)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#2: Code-gen unrolled methods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7739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#3: Value locals for register allocation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197510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#5: Int-specific, focus on 27/28 only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267897"/>
            <a:ext cx="7680960" cy="114300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267897"/>
            <a:ext cx="54864" cy="114300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313617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Optimization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587937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#8: Specialize for all 13 primitive types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2789105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#12: String overload with ordinal comparison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2990273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#13: Port generator from Python to C#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3191441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#14: AVX2 SIMD for byte/sbyte (33x!)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07"/>
            <a:ext cx="7680960" cy="1143000"/>
          </a:xfrm>
          <a:prstGeom prst="rect">
            <a:avLst/>
          </a:prstGeom>
          <a:solidFill>
            <a:srgbClr val="1E2D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3474707"/>
            <a:ext cx="54864" cy="114300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3520427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2+ — SIMD Everywhere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794747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#17: ARM64 AdvSimd/NEON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3995915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#20: AVX-512 for 16-bit types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" y="4197083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#35-39: AVX2/AVX-512 for int, float, double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4398251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#58: ARM64 TBL1 + early-exit optimizations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All code-generated </a:t>
            </a: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scripts/generate_unrolled.cs</a:t>
            </a:r>
            <a:r>
              <a:rPr lang="en-US" sz="1200" dirty="0">
                <a:solidFill>
                  <a:srgbClr val="94A3B8"/>
                </a:solidFill>
              </a:rPr>
              <a:t> — change the generator, regenerate everything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the research-to-code pipeline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reading a paper to a working, optimized library in days — not weeks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182880" cy="182880"/>
          </a:xfrm>
          <a:prstGeom prst="ellipse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handled the tedious parts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scripts, test coverage, SIMD boilerplate, CI/CD setup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063240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still matters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SIMD intrinsics, .NET JIT behavior, and benchmark methodology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977640"/>
            <a:ext cx="182880" cy="18288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speak for themselves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206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41x faster than Array.Sort for specialized sizes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github.com/jonathanpeppers/SortingNetworks</a:t>
            </a:r>
            <a:r>
              <a:rPr lang="en-US" sz="1300" dirty="0">
                <a:solidFill>
                  <a:srgbClr val="64748B"/>
                </a:solidFill>
              </a:rPr>
              <a:t>   | 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</a:t>
            </a: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arxiv.org/abs/2511.04107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hanks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5400" b="1" dirty="0">
                <a:solidFill>
                  <a:srgbClr val="F1F5F9"/>
                </a:solidFill>
                <a:latin typeface="Calibri"/>
              </a:rPr>
              <a:t>Thanks!</a:t>
            </a:r>
          </a:p>
        </p:txBody>
      </p:sp>
      <p:sp>
        <p:nvSpPr>
          <p:cNvPr id="4" name="Circle1"/>
          <p:cNvSpPr/>
          <p:nvPr/>
        </p:nvSpPr>
        <p:spPr>
          <a:xfrm>
            <a:off x="7498080" y="274320"/>
            <a:ext cx="1828800" cy="1828800"/>
          </a:xfrm>
          <a:prstGeom prst="ellipse">
            <a:avLst/>
          </a:prstGeom>
          <a:solidFill>
            <a:srgbClr val="38BDF8">
              <a:alpha val="10000"/>
            </a:srgbClr>
          </a:solidFill>
          <a:ln w="19050">
            <a:solidFill>
              <a:srgbClr val="38BDF8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Circle2"/>
          <p:cNvSpPr/>
          <p:nvPr/>
        </p:nvSpPr>
        <p:spPr>
          <a:xfrm>
            <a:off x="8046720" y="731520"/>
            <a:ext cx="1280160" cy="1280160"/>
          </a:xfrm>
          <a:prstGeom prst="ellipse">
            <a:avLst/>
          </a:prstGeom>
          <a:solidFill>
            <a:srgbClr val="818CF8">
              <a:alpha val="8000"/>
            </a:srgbClr>
          </a:solidFill>
          <a:ln w="12700">
            <a:solidFill>
              <a:srgbClr val="818CF8">
                <a:alpha val="3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FutureCard"/>
          <p:cNvSpPr/>
          <p:nvPr/>
        </p:nvSpPr>
        <p:spPr>
          <a:xfrm>
            <a:off x="731520" y="1554480"/>
            <a:ext cx="7681596" cy="1737360"/>
          </a:xfrm>
          <a:prstGeom prst="rect">
            <a:avLst/>
          </a:prstGeom>
          <a:solidFill>
            <a:srgbClr val="1E2D4F"/>
          </a:solidFill>
          <a:effectLst>
            <a:outerShdw blurRad="101600" dist="38100" dir="810000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FutureAccent"/>
          <p:cNvSpPr/>
          <p:nvPr/>
        </p:nvSpPr>
        <p:spPr>
          <a:xfrm>
            <a:off x="731520" y="1554480"/>
            <a:ext cx="54864" cy="1737360"/>
          </a:xfrm>
          <a:prstGeom prst="rect">
            <a:avLst/>
          </a:prstGeom>
          <a:solidFill>
            <a:srgbClr val="FB923C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FutureTitle"/>
          <p:cNvSpPr/>
          <p:nvPr/>
        </p:nvSpPr>
        <p:spPr>
          <a:xfrm>
            <a:off x="914400" y="1600200"/>
            <a:ext cx="7315200" cy="32004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1800" b="1" dirty="0">
                <a:solidFill>
                  <a:srgbClr val="FB923C"/>
                </a:solidFill>
                <a:latin typeface="Calibri"/>
              </a:rPr>
              <a:t>What’s Next?</a:t>
            </a:r>
          </a:p>
        </p:txBody>
      </p:sp>
      <p:sp>
        <p:nvSpPr>
          <p:cNvPr id="13" name="Idea1"/>
          <p:cNvSpPr/>
          <p:nvPr/>
        </p:nvSpPr>
        <p:spPr>
          <a:xfrm>
            <a:off x="914400" y="1920240"/>
            <a:ext cx="7315200" cy="27432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1300" b="1" dirty="0">
                <a:solidFill>
                  <a:srgbClr val="F1F5F9"/>
                </a:solidFill>
                <a:latin typeface="Calibri"/>
              </a:rPr>
              <a:t>Could this go in the BCL?</a:t>
            </a:r>
          </a:p>
        </p:txBody>
      </p:sp>
      <p:sp>
        <p:nvSpPr>
          <p:cNvPr id="14" name="Idea1Detail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dirty="0">
                <a:solidFill>
                  <a:srgbClr val="94A3B8"/>
                </a:solidFill>
                <a:latin typeface="Calibri"/>
              </a:rPr>
              <a:t>Sorting networks need a custom network per array length — you’d need networks for every size,</a:t>
            </a:r>
          </a:p>
          <a:p>
            <a:pPr algn="l"/>
            <a:r>
              <a:rPr lang="en-US" sz="1100" dirty="0">
                <a:solidFill>
                  <a:srgbClr val="94A3B8"/>
                </a:solidFill>
                <a:latin typeface="Calibri"/>
              </a:rPr>
              <a:t>not just 27/28. A </a:t>
            </a:r>
            <a:r>
              <a:rPr lang="en-US" sz="1100" b="1" dirty="0">
                <a:solidFill>
                  <a:srgbClr val="38BDF8"/>
                </a:solidFill>
                <a:latin typeface="Calibri"/>
              </a:rPr>
              <a:t>C# Source Generator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inside a </a:t>
            </a:r>
            <a:r>
              <a:rPr lang="en-US" sz="1100" b="1" dirty="0">
                <a:solidFill>
                  <a:srgbClr val="38BDF8"/>
                </a:solidFill>
                <a:latin typeface="Calibri"/>
              </a:rPr>
              <a:t>NuGet package</a:t>
            </a:r>
            <a:r>
              <a:rPr lang="en-US" sz="1100" dirty="0">
                <a:solidFill>
                  <a:srgbClr val="94A3B8"/>
                </a:solidFill>
                <a:latin typeface="Calibri"/>
              </a:rPr>
              <a:t> may be a better fit for this narrower use case.</a:t>
            </a:r>
          </a:p>
        </p:txBody>
      </p:sp>
      <p:sp>
        <p:nvSpPr>
          <p:cNvPr id="15" name="Idea2"/>
          <p:cNvSpPr/>
          <p:nvPr/>
        </p:nvSpPr>
        <p:spPr>
          <a:xfrm>
            <a:off x="914400" y="2834640"/>
            <a:ext cx="7315200" cy="27432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l"/>
            <a:r>
              <a:rPr lang="en-US" sz="1300" b="1" dirty="0">
                <a:solidFill>
                  <a:srgbClr val="F1F5F9"/>
                </a:solidFill>
                <a:latin typeface="Calibri"/>
              </a:rPr>
              <a:t>Expand to more sizes and network constructions</a:t>
            </a:r>
          </a:p>
        </p:txBody>
      </p:sp>
      <p:sp>
        <p:nvSpPr>
          <p:cNvPr id="20" name="BottomBar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2744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RepoLink"/>
          <p:cNvSpPr/>
          <p:nvPr/>
        </p:nvSpPr>
        <p:spPr>
          <a:xfrm>
            <a:off x="0" y="4434840"/>
            <a:ext cx="9144000" cy="36576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1800" b="1" dirty="0">
                <a:solidFill>
                  <a:srgbClr val="38BDF8"/>
                </a:solidFill>
                <a:latin typeface="Consolas"/>
              </a:rPr>
              <a:t>github.com/jonathanpeppers/SortingNetworks</a:t>
            </a:r>
          </a:p>
        </p:txBody>
      </p:sp>
      <p:sp>
        <p:nvSpPr>
          <p:cNvPr id="22" name="PaperLink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</p:spPr>
        <p:txBody>
          <a:bodyPr lIns="0" tIns="0" rIns="0" bIns="0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/>
              </a:rPr>
              <a:t>Paper: </a:t>
            </a:r>
            <a:r>
              <a:rPr lang="en-US" sz="1200" dirty="0">
                <a:solidFill>
                  <a:srgbClr val="818CF8"/>
                </a:solidFill>
                <a:latin typeface="Consolas"/>
              </a:rPr>
              <a:t>arxiv.org/abs/2511.04107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2257</Words>
  <Application>Microsoft Office PowerPoint</Application>
  <PresentationFormat>On-screen Show (16:9)</PresentationFormat>
  <Paragraphs>456</Paragraphs>
  <Slides>20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 Networks: From Paper to Performance with AI</dc:title>
  <dc:subject>PptxGenJS Presentation</dc:subject>
  <dc:creator>Jonathan Peppers</dc:creator>
  <cp:lastModifiedBy>Jonathan Peppers</cp:lastModifiedBy>
  <cp:revision>7</cp:revision>
  <dcterms:created xsi:type="dcterms:W3CDTF">2026-04-20T17:31:24Z</dcterms:created>
  <dcterms:modified xsi:type="dcterms:W3CDTF">2026-04-22T14:52:45Z</dcterms:modified>
</cp:coreProperties>
</file>